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embeddedFontLst>
    <p:embeddedFont>
      <p:font typeface="Fira Sans Extra Condensed Medium"/>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iraSansExtraCondensedMedium-bold.fntdata"/><Relationship Id="rId25" Type="http://schemas.openxmlformats.org/officeDocument/2006/relationships/font" Target="fonts/FiraSansExtraCondensedMedium-regular.fntdata"/><Relationship Id="rId28" Type="http://schemas.openxmlformats.org/officeDocument/2006/relationships/font" Target="fonts/FiraSansExtraCondensedMedium-boldItalic.fntdata"/><Relationship Id="rId27" Type="http://schemas.openxmlformats.org/officeDocument/2006/relationships/font" Target="fonts/FiraSansExtraCondensedMedium-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 name="Google Shape;2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95845d3cb_0_9:notes"/>
          <p:cNvSpPr/>
          <p:nvPr>
            <p:ph idx="2" type="sldImg"/>
          </p:nvPr>
        </p:nvSpPr>
        <p:spPr>
          <a:xfrm>
            <a:off x="381000" y="914400"/>
            <a:ext cx="6096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g3f95845d3cb_0_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95845d3cb_0_4: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f95845d3cb_0_4: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solidFill>
                  <a:schemeClr val="dk1"/>
                </a:solidFill>
              </a:rPr>
              <a:t>"Our brain performs thousands of operations every day—from remembering information to interpreting emotional experiences. We often think of these as completely different functions, each relying on its own specialized brain regions. But the brain is remarkably efficient. Instead of building a new circuit for every challenge, it frequently reuses flexible control networks. This idea makes sense for closely related processes like attention and decision-making—but does it also apply to two seemingly different domains such as working memory and emotion? That question forms the basis of our study." </a:t>
            </a:r>
            <a:endParaRPr sz="1300">
              <a:solidFill>
                <a:srgbClr val="595959"/>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3c17ec4b9_0_10:notes"/>
          <p:cNvSpPr/>
          <p:nvPr>
            <p:ph idx="2" type="sldImg"/>
          </p:nvPr>
        </p:nvSpPr>
        <p:spPr>
          <a:xfrm>
            <a:off x="381000" y="914400"/>
            <a:ext cx="6096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f3c17ec4b9_0_1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95845d3cb_0_17: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95845d3cb_0_17: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1200"/>
              </a:spcAft>
              <a:buNone/>
            </a:pPr>
            <a:r>
              <a:rPr lang="en-US" sz="1300">
                <a:solidFill>
                  <a:srgbClr val="595959"/>
                </a:solidFill>
              </a:rPr>
              <a:t>Examined </a:t>
            </a:r>
            <a:r>
              <a:rPr b="1" lang="en-US" sz="1300">
                <a:solidFill>
                  <a:srgbClr val="595959"/>
                </a:solidFill>
              </a:rPr>
              <a:t>3T task-fMRI data </a:t>
            </a:r>
            <a:r>
              <a:rPr lang="en-US" sz="1300">
                <a:solidFill>
                  <a:srgbClr val="595959"/>
                </a:solidFill>
              </a:rPr>
              <a:t>from 100 individuals, from the </a:t>
            </a:r>
            <a:r>
              <a:rPr b="1" lang="en-US" sz="1300">
                <a:solidFill>
                  <a:srgbClr val="595959"/>
                </a:solidFill>
              </a:rPr>
              <a:t>Human Connectome Project-Young Adult dataset</a:t>
            </a:r>
            <a:r>
              <a:rPr lang="en-US" sz="1300">
                <a:solidFill>
                  <a:srgbClr val="595959"/>
                </a:solidFill>
              </a:rP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95845d3cb_0_22: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95845d3cb_0_22: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1200"/>
              </a:spcAft>
              <a:buNone/>
            </a:pPr>
            <a:r>
              <a:rPr lang="en-US" sz="1300">
                <a:solidFill>
                  <a:srgbClr val="595959"/>
                </a:solidFill>
              </a:rPr>
              <a:t>The dataset was preprocessed and parcellated using the </a:t>
            </a:r>
            <a:r>
              <a:rPr b="1" lang="en-US" sz="1300">
                <a:solidFill>
                  <a:srgbClr val="595959"/>
                </a:solidFill>
              </a:rPr>
              <a:t>Glasser Atlas parcellation</a:t>
            </a:r>
            <a:r>
              <a:rPr lang="en-US" sz="1300">
                <a:solidFill>
                  <a:srgbClr val="595959"/>
                </a:solidFill>
              </a:rPr>
              <a:t> [4]</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95845d3cb_0_27: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95845d3cb_0_27: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focusing on the working memory and emotion experiments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599e70349_1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599e70349_16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Janindu slide 1:</a:t>
            </a:r>
            <a:endParaRPr/>
          </a:p>
          <a:p>
            <a:pPr indent="-317500" lvl="0" marL="457200" rtl="0" algn="l">
              <a:spcBef>
                <a:spcPts val="0"/>
              </a:spcBef>
              <a:spcAft>
                <a:spcPts val="0"/>
              </a:spcAft>
              <a:buSzPts val="1400"/>
              <a:buChar char="-"/>
            </a:pPr>
            <a:r>
              <a:rPr lang="en-US"/>
              <a:t>Our initial analysis involved identify regions of increased or decreased bold activity for our 2bk memory task compared to our control working memory task. </a:t>
            </a:r>
            <a:endParaRPr/>
          </a:p>
          <a:p>
            <a:pPr indent="-317500" lvl="0" marL="457200" rtl="0" algn="l">
              <a:spcBef>
                <a:spcPts val="0"/>
              </a:spcBef>
              <a:spcAft>
                <a:spcPts val="0"/>
              </a:spcAft>
              <a:buSzPts val="1400"/>
              <a:buChar char="-"/>
            </a:pPr>
            <a:r>
              <a:rPr lang="en-US"/>
              <a:t>We also did the same for our emotional processing task</a:t>
            </a:r>
            <a:endParaRPr/>
          </a:p>
          <a:p>
            <a:pPr indent="-317500" lvl="0" marL="457200" rtl="0" algn="l">
              <a:spcBef>
                <a:spcPts val="0"/>
              </a:spcBef>
              <a:spcAft>
                <a:spcPts val="0"/>
              </a:spcAft>
              <a:buSzPts val="1400"/>
              <a:buChar char="-"/>
            </a:pPr>
            <a:r>
              <a:rPr lang="en-US"/>
              <a:t>Here we see the increased and decreased activation for our working memory and emotional processing tasks, on a network le</a:t>
            </a:r>
            <a:r>
              <a:rPr lang="en-US"/>
              <a:t>vel scale.</a:t>
            </a:r>
            <a:endParaRPr/>
          </a:p>
          <a:p>
            <a:pPr indent="-317500" lvl="0" marL="457200" rtl="0" algn="l">
              <a:spcBef>
                <a:spcPts val="0"/>
              </a:spcBef>
              <a:spcAft>
                <a:spcPts val="0"/>
              </a:spcAft>
              <a:buSzPts val="1400"/>
              <a:buChar char="-"/>
            </a:pPr>
            <a:r>
              <a:rPr lang="en-US"/>
              <a:t>Frontoparietal (WM), Cingulo-opercular network (EM)</a:t>
            </a:r>
            <a:endParaRPr/>
          </a:p>
          <a:p>
            <a:pPr indent="-317500" lvl="0" marL="457200" rtl="0" algn="l">
              <a:spcBef>
                <a:spcPts val="0"/>
              </a:spcBef>
              <a:spcAft>
                <a:spcPts val="0"/>
              </a:spcAft>
              <a:buSzPts val="1400"/>
              <a:buChar char="-"/>
            </a:pPr>
            <a:r>
              <a:rPr lang="en-US"/>
              <a:t>For our next steps, we wanted to break these large-scale networks into smaller reg</a:t>
            </a:r>
            <a:endParaRPr/>
          </a:p>
        </p:txBody>
      </p:sp>
      <p:sp>
        <p:nvSpPr>
          <p:cNvPr id="99" name="Google Shape;99;g3f599e70349_16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599e70349_16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599e70349_16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Janindu slide: 2 - starting discussion on t-tests</a:t>
            </a:r>
            <a:endParaRPr/>
          </a:p>
          <a:p>
            <a:pPr indent="-317500" lvl="0" marL="457200" rtl="0" algn="l">
              <a:spcBef>
                <a:spcPts val="0"/>
              </a:spcBef>
              <a:spcAft>
                <a:spcPts val="0"/>
              </a:spcAft>
              <a:buSzPts val="1400"/>
              <a:buChar char="-"/>
            </a:pPr>
            <a:r>
              <a:rPr lang="en-US"/>
              <a:t>Compared each of</a:t>
            </a:r>
            <a:r>
              <a:rPr lang="en-US"/>
              <a:t> 360 ROI. I</a:t>
            </a:r>
            <a:r>
              <a:rPr lang="en-US"/>
              <a:t>dentified 126 regions with signif</a:t>
            </a:r>
            <a:endParaRPr/>
          </a:p>
          <a:p>
            <a:pPr indent="-317500" lvl="0" marL="457200" rtl="0" algn="l">
              <a:spcBef>
                <a:spcPts val="0"/>
              </a:spcBef>
              <a:spcAft>
                <a:spcPts val="0"/>
              </a:spcAft>
              <a:buSzPts val="1400"/>
              <a:buChar char="-"/>
            </a:pPr>
            <a:r>
              <a:rPr lang="en-US"/>
              <a:t>Issue with false discovery rates</a:t>
            </a:r>
            <a:endParaRPr/>
          </a:p>
        </p:txBody>
      </p:sp>
      <p:sp>
        <p:nvSpPr>
          <p:cNvPr id="107" name="Google Shape;107;g3f599e70349_16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599e70349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599e70349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f599e70349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99e70349_16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599e70349_16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f599e70349_16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599e70349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599e70349_1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f599e70349_1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599e70349_1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599e70349_11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g3f599e70349_11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599e70349_1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f599e70349_11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f599e70349_11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599e70349_1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599e70349_11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f599e70349_11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599e70349_11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599e70349_11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f599e70349_11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599e70349_11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599e70349_11_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f599e70349_11_7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5a02854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5a02854d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f5a02854d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95845d3cb_0_141: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f95845d3cb_0_141:notes"/>
          <p:cNvSpPr txBox="1"/>
          <p:nvPr>
            <p:ph idx="1" type="body"/>
          </p:nvPr>
        </p:nvSpPr>
        <p:spPr>
          <a:xfrm>
            <a:off x="685800" y="5791200"/>
            <a:ext cx="5486400" cy="5486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5"/>
        </a:solidFill>
      </p:bgPr>
    </p:bg>
    <p:spTree>
      <p:nvGrpSpPr>
        <p:cNvPr id="13" name="Shape 13"/>
        <p:cNvGrpSpPr/>
        <p:nvPr/>
      </p:nvGrpSpPr>
      <p:grpSpPr>
        <a:xfrm>
          <a:off x="0" y="0"/>
          <a:ext cx="0" cy="0"/>
          <a:chOff x="0" y="0"/>
          <a:chExt cx="0" cy="0"/>
        </a:xfrm>
      </p:grpSpPr>
      <p:sp>
        <p:nvSpPr>
          <p:cNvPr id="14" name="Google Shape;14;p4"/>
          <p:cNvSpPr txBox="1"/>
          <p:nvPr>
            <p:ph idx="1" type="subTitle"/>
          </p:nvPr>
        </p:nvSpPr>
        <p:spPr>
          <a:xfrm>
            <a:off x="2297973" y="4842867"/>
            <a:ext cx="7598100" cy="558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1600"/>
              <a:buNone/>
              <a:defRPr b="1" sz="2100">
                <a:solidFill>
                  <a:schemeClr val="lt2"/>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15" name="Google Shape;15;p4"/>
          <p:cNvSpPr txBox="1"/>
          <p:nvPr>
            <p:ph hasCustomPrompt="1" type="title"/>
          </p:nvPr>
        </p:nvSpPr>
        <p:spPr>
          <a:xfrm>
            <a:off x="2505373" y="2201833"/>
            <a:ext cx="7183200" cy="1473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12800"/>
              <a:buNone/>
              <a:defRPr sz="9600">
                <a:solidFill>
                  <a:schemeClr val="accent5"/>
                </a:solidFill>
              </a:defRPr>
            </a:lvl1pPr>
            <a:lvl2pPr lvl="1"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2pPr>
            <a:lvl3pPr lvl="2"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3pPr>
            <a:lvl4pPr lvl="3"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4pPr>
            <a:lvl5pPr lvl="4"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5pPr>
            <a:lvl6pPr lvl="5"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6pPr>
            <a:lvl7pPr lvl="6"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7pPr>
            <a:lvl8pPr lvl="7"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8pPr>
            <a:lvl9pPr lvl="8" algn="ctr">
              <a:lnSpc>
                <a:spcPct val="100000"/>
              </a:lnSpc>
              <a:spcBef>
                <a:spcPts val="0"/>
              </a:spcBef>
              <a:spcAft>
                <a:spcPts val="0"/>
              </a:spcAft>
              <a:buSzPts val="12800"/>
              <a:buFont typeface="Fira Sans Extra Condensed Medium"/>
              <a:buNone/>
              <a:defRPr sz="12800">
                <a:highlight>
                  <a:schemeClr val="dk2"/>
                </a:highlight>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5"/>
          <p:cNvSpPr txBox="1"/>
          <p:nvPr>
            <p:ph type="title"/>
          </p:nvPr>
        </p:nvSpPr>
        <p:spPr>
          <a:xfrm>
            <a:off x="415600" y="593367"/>
            <a:ext cx="11360700" cy="763500"/>
          </a:xfrm>
          <a:prstGeom prst="rect">
            <a:avLst/>
          </a:prstGeom>
          <a:noFill/>
          <a:ln>
            <a:noFill/>
          </a:ln>
        </p:spPr>
        <p:txBody>
          <a:bodyPr anchorCtr="0" anchor="ctr" bIns="121900" lIns="121900" spcFirstLastPara="1" rIns="121900" wrap="square" tIns="121900">
            <a:noAutofit/>
          </a:bodyPr>
          <a:lstStyle>
            <a:lvl1pPr lvl="0">
              <a:spcBef>
                <a:spcPts val="0"/>
              </a:spcBef>
              <a:spcAft>
                <a:spcPts val="0"/>
              </a:spcAft>
              <a:buSzPts val="1900"/>
              <a:buChar char="●"/>
              <a:defRPr sz="1900"/>
            </a:lvl1pPr>
            <a:lvl2pPr lvl="1">
              <a:spcBef>
                <a:spcPts val="0"/>
              </a:spcBef>
              <a:spcAft>
                <a:spcPts val="0"/>
              </a:spcAft>
              <a:buSzPts val="1900"/>
              <a:buChar char="○"/>
              <a:defRPr sz="1900"/>
            </a:lvl2pPr>
            <a:lvl3pPr lvl="2">
              <a:spcBef>
                <a:spcPts val="0"/>
              </a:spcBef>
              <a:spcAft>
                <a:spcPts val="0"/>
              </a:spcAft>
              <a:buSzPts val="1900"/>
              <a:buChar char="■"/>
              <a:defRPr sz="1900"/>
            </a:lvl3pPr>
            <a:lvl4pPr lvl="3">
              <a:spcBef>
                <a:spcPts val="0"/>
              </a:spcBef>
              <a:spcAft>
                <a:spcPts val="0"/>
              </a:spcAft>
              <a:buSzPts val="1900"/>
              <a:buChar char="●"/>
              <a:defRPr sz="1900"/>
            </a:lvl4pPr>
            <a:lvl5pPr lvl="4">
              <a:spcBef>
                <a:spcPts val="0"/>
              </a:spcBef>
              <a:spcAft>
                <a:spcPts val="0"/>
              </a:spcAft>
              <a:buSzPts val="1900"/>
              <a:buChar char="○"/>
              <a:defRPr sz="1900"/>
            </a:lvl5pPr>
            <a:lvl6pPr lvl="5">
              <a:spcBef>
                <a:spcPts val="0"/>
              </a:spcBef>
              <a:spcAft>
                <a:spcPts val="0"/>
              </a:spcAft>
              <a:buSzPts val="1900"/>
              <a:buChar char="■"/>
              <a:defRPr sz="1900"/>
            </a:lvl6pPr>
            <a:lvl7pPr lvl="6">
              <a:spcBef>
                <a:spcPts val="0"/>
              </a:spcBef>
              <a:spcAft>
                <a:spcPts val="0"/>
              </a:spcAft>
              <a:buSzPts val="1900"/>
              <a:buChar char="●"/>
              <a:defRPr sz="1900"/>
            </a:lvl7pPr>
            <a:lvl8pPr lvl="7">
              <a:spcBef>
                <a:spcPts val="0"/>
              </a:spcBef>
              <a:spcAft>
                <a:spcPts val="0"/>
              </a:spcAft>
              <a:buSzPts val="1900"/>
              <a:buChar char="○"/>
              <a:defRPr sz="1900"/>
            </a:lvl8pPr>
            <a:lvl9pPr lvl="8">
              <a:spcBef>
                <a:spcPts val="0"/>
              </a:spcBef>
              <a:spcAft>
                <a:spcPts val="0"/>
              </a:spcAft>
              <a:buSzPts val="1900"/>
              <a:buChar char="■"/>
              <a:defRPr sz="1900"/>
            </a:lvl9pPr>
          </a:lstStyle>
          <a:p/>
        </p:txBody>
      </p:sp>
      <p:sp>
        <p:nvSpPr>
          <p:cNvPr id="18" name="Google Shape;18;p5"/>
          <p:cNvSpPr txBox="1"/>
          <p:nvPr>
            <p:ph idx="1" type="body"/>
          </p:nvPr>
        </p:nvSpPr>
        <p:spPr>
          <a:xfrm>
            <a:off x="415600" y="1536633"/>
            <a:ext cx="11360700" cy="4555200"/>
          </a:xfrm>
          <a:prstGeom prst="rect">
            <a:avLst/>
          </a:prstGeom>
          <a:noFill/>
          <a:ln>
            <a:noFill/>
          </a:ln>
        </p:spPr>
        <p:txBody>
          <a:bodyPr anchorCtr="0" anchor="ctr" bIns="121900" lIns="121900" spcFirstLastPara="1" rIns="121900" wrap="square" tIns="121900">
            <a:no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19" name="Google Shape;19;p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s://doi.org/10.1016/j.neuroimage.2022.119352" TargetMode="External"/><Relationship Id="rId4" Type="http://schemas.openxmlformats.org/officeDocument/2006/relationships/hyperlink" Target="https://doi.org/10.4414/smw.2013.13786" TargetMode="External"/><Relationship Id="rId5" Type="http://schemas.openxmlformats.org/officeDocument/2006/relationships/hyperlink" Target="https://doi.org/10.3758/s13415-024-01156-1" TargetMode="External"/><Relationship Id="rId6" Type="http://schemas.openxmlformats.org/officeDocument/2006/relationships/hyperlink" Target="https://doi.org/10.1016/j.plrev.2014.03.005" TargetMode="External"/><Relationship Id="rId7" Type="http://schemas.openxmlformats.org/officeDocument/2006/relationships/hyperlink" Target="https://doi.org/10.1038/nature18933" TargetMode="External"/><Relationship Id="rId8" Type="http://schemas.openxmlformats.org/officeDocument/2006/relationships/hyperlink" Target="https://doi.org/10.1093/cercor/bhaa023"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1B3A"/>
        </a:solidFill>
      </p:bgPr>
    </p:bg>
    <p:spTree>
      <p:nvGrpSpPr>
        <p:cNvPr id="24" name="Shape 24"/>
        <p:cNvGrpSpPr/>
        <p:nvPr/>
      </p:nvGrpSpPr>
      <p:grpSpPr>
        <a:xfrm>
          <a:off x="0" y="0"/>
          <a:ext cx="0" cy="0"/>
          <a:chOff x="0" y="0"/>
          <a:chExt cx="0" cy="0"/>
        </a:xfrm>
      </p:grpSpPr>
      <p:cxnSp>
        <p:nvCxnSpPr>
          <p:cNvPr id="25" name="Google Shape;25;p6"/>
          <p:cNvCxnSpPr/>
          <p:nvPr/>
        </p:nvCxnSpPr>
        <p:spPr>
          <a:xfrm>
            <a:off x="9692640" y="1005840"/>
            <a:ext cx="1005840" cy="54864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26" name="Google Shape;26;p6"/>
          <p:cNvCxnSpPr/>
          <p:nvPr/>
        </p:nvCxnSpPr>
        <p:spPr>
          <a:xfrm flipH="1" rot="10800000">
            <a:off x="10698480" y="914400"/>
            <a:ext cx="731520" cy="64008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27" name="Google Shape;27;p6"/>
          <p:cNvCxnSpPr/>
          <p:nvPr/>
        </p:nvCxnSpPr>
        <p:spPr>
          <a:xfrm flipH="1">
            <a:off x="10332720" y="1554480"/>
            <a:ext cx="365760" cy="82296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28" name="Google Shape;28;p6"/>
          <p:cNvCxnSpPr/>
          <p:nvPr/>
        </p:nvCxnSpPr>
        <p:spPr>
          <a:xfrm flipH="1">
            <a:off x="9509760" y="2377440"/>
            <a:ext cx="822960" cy="27432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29" name="Google Shape;29;p6"/>
          <p:cNvCxnSpPr/>
          <p:nvPr/>
        </p:nvCxnSpPr>
        <p:spPr>
          <a:xfrm>
            <a:off x="10698480" y="1554480"/>
            <a:ext cx="914400" cy="18288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30" name="Google Shape;30;p6"/>
          <p:cNvCxnSpPr/>
          <p:nvPr/>
        </p:nvCxnSpPr>
        <p:spPr>
          <a:xfrm flipH="1">
            <a:off x="11521440" y="1737360"/>
            <a:ext cx="91440" cy="91440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31" name="Google Shape;31;p6"/>
          <p:cNvCxnSpPr/>
          <p:nvPr/>
        </p:nvCxnSpPr>
        <p:spPr>
          <a:xfrm>
            <a:off x="10332720" y="2377440"/>
            <a:ext cx="640080" cy="137160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32" name="Google Shape;32;p6"/>
          <p:cNvCxnSpPr/>
          <p:nvPr/>
        </p:nvCxnSpPr>
        <p:spPr>
          <a:xfrm flipH="1">
            <a:off x="9966960" y="3749040"/>
            <a:ext cx="1005840" cy="27432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33" name="Google Shape;33;p6"/>
          <p:cNvCxnSpPr/>
          <p:nvPr/>
        </p:nvCxnSpPr>
        <p:spPr>
          <a:xfrm flipH="1">
            <a:off x="10607040" y="3749040"/>
            <a:ext cx="365760" cy="731520"/>
          </a:xfrm>
          <a:prstGeom prst="straightConnector1">
            <a:avLst/>
          </a:prstGeom>
          <a:noFill/>
          <a:ln cap="flat" cmpd="sng" w="12700">
            <a:solidFill>
              <a:srgbClr val="4A4276">
                <a:alpha val="74902"/>
              </a:srgbClr>
            </a:solidFill>
            <a:prstDash val="solid"/>
            <a:round/>
            <a:headEnd len="sm" w="sm" type="none"/>
            <a:tailEnd len="sm" w="sm" type="none"/>
          </a:ln>
        </p:spPr>
      </p:cxnSp>
      <p:cxnSp>
        <p:nvCxnSpPr>
          <p:cNvPr id="34" name="Google Shape;34;p6"/>
          <p:cNvCxnSpPr/>
          <p:nvPr/>
        </p:nvCxnSpPr>
        <p:spPr>
          <a:xfrm flipH="1">
            <a:off x="10972800" y="2651760"/>
            <a:ext cx="548640" cy="1097280"/>
          </a:xfrm>
          <a:prstGeom prst="straightConnector1">
            <a:avLst/>
          </a:prstGeom>
          <a:noFill/>
          <a:ln cap="flat" cmpd="sng" w="12700">
            <a:solidFill>
              <a:srgbClr val="4A4276">
                <a:alpha val="74902"/>
              </a:srgbClr>
            </a:solidFill>
            <a:prstDash val="solid"/>
            <a:round/>
            <a:headEnd len="sm" w="sm" type="none"/>
            <a:tailEnd len="sm" w="sm" type="none"/>
          </a:ln>
        </p:spPr>
      </p:cxnSp>
      <p:sp>
        <p:nvSpPr>
          <p:cNvPr id="35" name="Google Shape;35;p6"/>
          <p:cNvSpPr/>
          <p:nvPr/>
        </p:nvSpPr>
        <p:spPr>
          <a:xfrm>
            <a:off x="9610344" y="923544"/>
            <a:ext cx="164592" cy="164592"/>
          </a:xfrm>
          <a:prstGeom prst="ellipse">
            <a:avLst/>
          </a:prstGeom>
          <a:solidFill>
            <a:srgbClr val="F2A65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a:off x="10643616" y="1499616"/>
            <a:ext cx="109728" cy="109728"/>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p:nvPr/>
        </p:nvSpPr>
        <p:spPr>
          <a:xfrm>
            <a:off x="11375136" y="859536"/>
            <a:ext cx="109728" cy="109728"/>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a:off x="10250424" y="2295144"/>
            <a:ext cx="164592" cy="164592"/>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a:off x="11466576" y="2596896"/>
            <a:ext cx="109728" cy="109728"/>
          </a:xfrm>
          <a:prstGeom prst="ellipse">
            <a:avLst/>
          </a:prstGeom>
          <a:solidFill>
            <a:srgbClr val="F2A65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p:nvPr/>
        </p:nvSpPr>
        <p:spPr>
          <a:xfrm>
            <a:off x="9454896" y="2596896"/>
            <a:ext cx="109728" cy="109728"/>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a:off x="10890504" y="3666744"/>
            <a:ext cx="164592" cy="164592"/>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p:nvPr/>
        </p:nvSpPr>
        <p:spPr>
          <a:xfrm>
            <a:off x="9912096" y="3968496"/>
            <a:ext cx="109728" cy="109728"/>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6"/>
          <p:cNvSpPr/>
          <p:nvPr/>
        </p:nvSpPr>
        <p:spPr>
          <a:xfrm>
            <a:off x="11558016" y="1682496"/>
            <a:ext cx="109728" cy="109728"/>
          </a:xfrm>
          <a:prstGeom prst="ellipse">
            <a:avLst/>
          </a:prstGeom>
          <a:solidFill>
            <a:srgbClr val="F2A65A">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10524744" y="4398264"/>
            <a:ext cx="164592" cy="164592"/>
          </a:xfrm>
          <a:prstGeom prst="ellipse">
            <a:avLst/>
          </a:prstGeom>
          <a:solidFill>
            <a:srgbClr val="CFC9E8">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640080" y="2103120"/>
            <a:ext cx="90525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SHARED AND DISTINCT BRAIN NETWORKS</a:t>
            </a:r>
            <a:endParaRPr b="0" i="0" sz="3000" u="none" cap="none" strike="noStrike">
              <a:solidFill>
                <a:schemeClr val="dk1"/>
              </a:solidFill>
              <a:latin typeface="Calibri"/>
              <a:ea typeface="Calibri"/>
              <a:cs typeface="Calibri"/>
              <a:sym typeface="Calibri"/>
            </a:endParaRPr>
          </a:p>
        </p:txBody>
      </p:sp>
      <p:sp>
        <p:nvSpPr>
          <p:cNvPr id="46" name="Google Shape;46;p6"/>
          <p:cNvSpPr/>
          <p:nvPr/>
        </p:nvSpPr>
        <p:spPr>
          <a:xfrm>
            <a:off x="640080" y="2670048"/>
            <a:ext cx="9052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3000"/>
              <a:buFont typeface="Cambria"/>
              <a:buNone/>
            </a:pPr>
            <a:r>
              <a:rPr b="1" i="0" lang="en-US" sz="3000" u="none" cap="none" strike="noStrike">
                <a:solidFill>
                  <a:srgbClr val="F2A65A"/>
                </a:solidFill>
                <a:latin typeface="Cambria"/>
                <a:ea typeface="Cambria"/>
                <a:cs typeface="Cambria"/>
                <a:sym typeface="Cambria"/>
              </a:rPr>
              <a:t>in Working Memory &amp; Emotion Processing</a:t>
            </a:r>
            <a:endParaRPr b="0" i="0" sz="3000" u="none" cap="none" strike="noStrike">
              <a:solidFill>
                <a:schemeClr val="dk1"/>
              </a:solidFill>
              <a:latin typeface="Calibri"/>
              <a:ea typeface="Calibri"/>
              <a:cs typeface="Calibri"/>
              <a:sym typeface="Calibri"/>
            </a:endParaRPr>
          </a:p>
        </p:txBody>
      </p:sp>
      <p:sp>
        <p:nvSpPr>
          <p:cNvPr id="47" name="Google Shape;47;p6"/>
          <p:cNvSpPr/>
          <p:nvPr/>
        </p:nvSpPr>
        <p:spPr>
          <a:xfrm>
            <a:off x="640080" y="3401568"/>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C9E8"/>
              </a:buClr>
              <a:buSzPts val="1700"/>
              <a:buFont typeface="Calibri"/>
              <a:buNone/>
            </a:pPr>
            <a:r>
              <a:rPr b="0" i="1" lang="en-US" sz="1700" u="none" cap="none" strike="noStrike">
                <a:solidFill>
                  <a:srgbClr val="CFC9E8"/>
                </a:solidFill>
                <a:latin typeface="Calibri"/>
                <a:ea typeface="Calibri"/>
                <a:cs typeface="Calibri"/>
                <a:sym typeface="Calibri"/>
              </a:rPr>
              <a:t>fMRI evidence from the Human Connectome Project — Young Adult dataset</a:t>
            </a:r>
            <a:endParaRPr b="0" i="0" sz="1700" u="none" cap="none" strike="noStrike">
              <a:solidFill>
                <a:schemeClr val="dk1"/>
              </a:solidFill>
              <a:latin typeface="Calibri"/>
              <a:ea typeface="Calibri"/>
              <a:cs typeface="Calibri"/>
              <a:sym typeface="Calibri"/>
            </a:endParaRPr>
          </a:p>
        </p:txBody>
      </p:sp>
      <p:cxnSp>
        <p:nvCxnSpPr>
          <p:cNvPr id="48" name="Google Shape;48;p6"/>
          <p:cNvCxnSpPr/>
          <p:nvPr/>
        </p:nvCxnSpPr>
        <p:spPr>
          <a:xfrm>
            <a:off x="640080" y="5897880"/>
            <a:ext cx="4937760" cy="0"/>
          </a:xfrm>
          <a:prstGeom prst="straightConnector1">
            <a:avLst/>
          </a:prstGeom>
          <a:noFill/>
          <a:ln cap="flat" cmpd="sng" w="9525">
            <a:solidFill>
              <a:srgbClr val="4A4276">
                <a:alpha val="70196"/>
              </a:srgbClr>
            </a:solidFill>
            <a:prstDash val="solid"/>
            <a:round/>
            <a:headEnd len="sm" w="sm" type="none"/>
            <a:tailEnd len="sm" w="sm" type="none"/>
          </a:ln>
        </p:spPr>
      </p:cxnSp>
      <p:sp>
        <p:nvSpPr>
          <p:cNvPr id="49" name="Google Shape;49;p6"/>
          <p:cNvSpPr/>
          <p:nvPr/>
        </p:nvSpPr>
        <p:spPr>
          <a:xfrm>
            <a:off x="640080" y="6016752"/>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50" name="Google Shape;50;p6"/>
          <p:cNvSpPr/>
          <p:nvPr/>
        </p:nvSpPr>
        <p:spPr>
          <a:xfrm>
            <a:off x="640080" y="632764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97BE"/>
              </a:buClr>
              <a:buSzPts val="1100"/>
              <a:buFont typeface="Calibri"/>
              <a:buNone/>
            </a:pPr>
            <a:r>
              <a:rPr b="0" i="0" lang="en-US" sz="1100" u="none" cap="none" strike="noStrike">
                <a:solidFill>
                  <a:srgbClr val="9C97BE"/>
                </a:solidFill>
                <a:latin typeface="Calibri"/>
                <a:ea typeface="Calibri"/>
                <a:cs typeface="Calibri"/>
                <a:sym typeface="Calibri"/>
              </a:rPr>
              <a:t>Neuromatch Academy — Computational Neuroscience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7"/>
          <p:cNvSpPr txBox="1"/>
          <p:nvPr>
            <p:ph idx="1" type="subTitle"/>
          </p:nvPr>
        </p:nvSpPr>
        <p:spPr>
          <a:xfrm>
            <a:off x="2164793" y="323276"/>
            <a:ext cx="7598100" cy="558300"/>
          </a:xfrm>
          <a:prstGeom prst="rect">
            <a:avLst/>
          </a:prstGeom>
          <a:noFill/>
          <a:ln>
            <a:noFill/>
          </a:ln>
        </p:spPr>
        <p:txBody>
          <a:bodyPr anchorCtr="0" anchor="ctr" bIns="121900" lIns="121900" spcFirstLastPara="1" rIns="121900" wrap="square" tIns="121900">
            <a:noAutofit/>
          </a:bodyPr>
          <a:lstStyle/>
          <a:p>
            <a:pPr indent="0" lvl="0" marL="0" rtl="0" algn="ctr">
              <a:lnSpc>
                <a:spcPct val="100000"/>
              </a:lnSpc>
              <a:spcBef>
                <a:spcPts val="0"/>
              </a:spcBef>
              <a:spcAft>
                <a:spcPts val="0"/>
              </a:spcAft>
              <a:buSzPts val="1600"/>
              <a:buNone/>
            </a:pPr>
            <a:r>
              <a:rPr lang="en-US">
                <a:solidFill>
                  <a:srgbClr val="4A4276"/>
                </a:solidFill>
                <a:latin typeface="Cambria"/>
                <a:ea typeface="Cambria"/>
                <a:cs typeface="Cambria"/>
                <a:sym typeface="Cambria"/>
              </a:rPr>
              <a:t>About Us </a:t>
            </a:r>
            <a:endParaRPr>
              <a:solidFill>
                <a:srgbClr val="4A4276"/>
              </a:solidFill>
              <a:latin typeface="Cambria"/>
              <a:ea typeface="Cambria"/>
              <a:cs typeface="Cambria"/>
              <a:sym typeface="Cambria"/>
            </a:endParaRPr>
          </a:p>
        </p:txBody>
      </p:sp>
      <p:pic>
        <p:nvPicPr>
          <p:cNvPr id="56" name="Google Shape;56;p7" title="warrior squirrel.jpeg"/>
          <p:cNvPicPr preferRelativeResize="0"/>
          <p:nvPr/>
        </p:nvPicPr>
        <p:blipFill>
          <a:blip r:embed="rId3">
            <a:alphaModFix/>
          </a:blip>
          <a:stretch>
            <a:fillRect/>
          </a:stretch>
        </p:blipFill>
        <p:spPr>
          <a:xfrm>
            <a:off x="6856700" y="1177776"/>
            <a:ext cx="5153025" cy="5219700"/>
          </a:xfrm>
          <a:prstGeom prst="rect">
            <a:avLst/>
          </a:prstGeom>
          <a:noFill/>
          <a:ln>
            <a:noFill/>
          </a:ln>
        </p:spPr>
      </p:pic>
      <p:sp>
        <p:nvSpPr>
          <p:cNvPr id="57" name="Google Shape;57;p7"/>
          <p:cNvSpPr txBox="1"/>
          <p:nvPr/>
        </p:nvSpPr>
        <p:spPr>
          <a:xfrm>
            <a:off x="401200" y="1177775"/>
            <a:ext cx="5254800" cy="4991100"/>
          </a:xfrm>
          <a:prstGeom prst="rect">
            <a:avLst/>
          </a:prstGeom>
          <a:noFill/>
          <a:ln>
            <a:noFill/>
          </a:ln>
        </p:spPr>
        <p:txBody>
          <a:bodyPr anchorCtr="0" anchor="t" bIns="91425" lIns="91425" spcFirstLastPara="1" rIns="91425" wrap="square" tIns="91425">
            <a:noAutofit/>
          </a:bodyPr>
          <a:lstStyle/>
          <a:p>
            <a:pPr indent="457200" lvl="0" marL="0" rtl="0" algn="just">
              <a:lnSpc>
                <a:spcPct val="115000"/>
              </a:lnSpc>
              <a:spcBef>
                <a:spcPts val="0"/>
              </a:spcBef>
              <a:spcAft>
                <a:spcPts val="0"/>
              </a:spcAft>
              <a:buNone/>
            </a:pPr>
            <a:r>
              <a:t/>
            </a:r>
            <a:endParaRPr sz="1900">
              <a:solidFill>
                <a:schemeClr val="dk1"/>
              </a:solidFill>
              <a:highlight>
                <a:srgbClr val="FFFFFF"/>
              </a:highlight>
              <a:latin typeface="Cambria"/>
              <a:ea typeface="Cambria"/>
              <a:cs typeface="Cambria"/>
              <a:sym typeface="Cambria"/>
            </a:endParaRPr>
          </a:p>
          <a:p>
            <a:pPr indent="457200" lvl="0" marL="0" rtl="0" algn="just">
              <a:lnSpc>
                <a:spcPct val="115000"/>
              </a:lnSpc>
              <a:spcBef>
                <a:spcPts val="0"/>
              </a:spcBef>
              <a:spcAft>
                <a:spcPts val="0"/>
              </a:spcAft>
              <a:buNone/>
            </a:pPr>
            <a:r>
              <a:rPr b="1" lang="en-US" sz="1900">
                <a:solidFill>
                  <a:schemeClr val="dk1"/>
                </a:solidFill>
                <a:highlight>
                  <a:srgbClr val="FFFFFF"/>
                </a:highlight>
                <a:latin typeface="Cambria"/>
                <a:ea typeface="Cambria"/>
                <a:cs typeface="Cambria"/>
                <a:sym typeface="Cambria"/>
              </a:rPr>
              <a:t>Team Warrior Squirrels:</a:t>
            </a:r>
            <a:endParaRPr b="1" sz="1900">
              <a:solidFill>
                <a:schemeClr val="dk1"/>
              </a:solidFill>
              <a:highlight>
                <a:srgbClr val="FFFFFF"/>
              </a:highlight>
              <a:latin typeface="Cambria"/>
              <a:ea typeface="Cambria"/>
              <a:cs typeface="Cambria"/>
              <a:sym typeface="Cambria"/>
            </a:endParaRPr>
          </a:p>
          <a:p>
            <a:pPr indent="457200" lvl="0" marL="0" rtl="0" algn="just">
              <a:lnSpc>
                <a:spcPct val="115000"/>
              </a:lnSpc>
              <a:spcBef>
                <a:spcPts val="0"/>
              </a:spcBef>
              <a:spcAft>
                <a:spcPts val="0"/>
              </a:spcAft>
              <a:buNone/>
            </a:pPr>
            <a:r>
              <a:t/>
            </a:r>
            <a:endParaRPr b="1" sz="1900">
              <a:solidFill>
                <a:schemeClr val="dk1"/>
              </a:solidFill>
              <a:highlight>
                <a:srgbClr val="FFFFFF"/>
              </a:highlight>
              <a:latin typeface="Cambria"/>
              <a:ea typeface="Cambria"/>
              <a:cs typeface="Cambria"/>
              <a:sym typeface="Cambria"/>
            </a:endParaRPr>
          </a:p>
          <a:p>
            <a:pPr indent="457200" lvl="0" marL="457200" rtl="0" algn="just">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Apurva Awasthi</a:t>
            </a:r>
            <a:endParaRPr sz="1900">
              <a:solidFill>
                <a:schemeClr val="dk1"/>
              </a:solidFill>
              <a:highlight>
                <a:srgbClr val="FFFFFF"/>
              </a:highlight>
              <a:latin typeface="Cambria"/>
              <a:ea typeface="Cambria"/>
              <a:cs typeface="Cambria"/>
              <a:sym typeface="Cambria"/>
            </a:endParaRPr>
          </a:p>
          <a:p>
            <a:pPr indent="457200" lvl="0" marL="457200" rtl="0" algn="just">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Janindu Pahalawatta</a:t>
            </a:r>
            <a:endParaRPr sz="1900">
              <a:solidFill>
                <a:schemeClr val="dk1"/>
              </a:solidFill>
              <a:highlight>
                <a:srgbClr val="FFFFFF"/>
              </a:highlight>
              <a:latin typeface="Cambria"/>
              <a:ea typeface="Cambria"/>
              <a:cs typeface="Cambria"/>
              <a:sym typeface="Cambria"/>
            </a:endParaRPr>
          </a:p>
          <a:p>
            <a:pPr indent="457200" lvl="0" marL="457200" rtl="0" algn="just">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Divya</a:t>
            </a:r>
            <a:endParaRPr sz="1900">
              <a:solidFill>
                <a:schemeClr val="dk1"/>
              </a:solidFill>
              <a:highlight>
                <a:srgbClr val="FFFFFF"/>
              </a:highlight>
              <a:latin typeface="Cambria"/>
              <a:ea typeface="Cambria"/>
              <a:cs typeface="Cambria"/>
              <a:sym typeface="Cambria"/>
            </a:endParaRPr>
          </a:p>
          <a:p>
            <a:pPr indent="457200" lvl="0" marL="457200" rtl="0" algn="just">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Mariia Sysuieva</a:t>
            </a:r>
            <a:endParaRPr sz="1900">
              <a:solidFill>
                <a:schemeClr val="dk1"/>
              </a:solidFill>
              <a:highlight>
                <a:srgbClr val="FFFFFF"/>
              </a:highlight>
              <a:latin typeface="Cambria"/>
              <a:ea typeface="Cambria"/>
              <a:cs typeface="Cambria"/>
              <a:sym typeface="Cambria"/>
            </a:endParaRPr>
          </a:p>
          <a:p>
            <a:pPr indent="457200" lvl="0" marL="457200" rtl="0" algn="just">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Uğur Özgür Yıldız </a:t>
            </a:r>
            <a:endParaRPr sz="1900">
              <a:solidFill>
                <a:schemeClr val="dk1"/>
              </a:solidFill>
              <a:highlight>
                <a:srgbClr val="FFFFFF"/>
              </a:highlight>
              <a:latin typeface="Cambria"/>
              <a:ea typeface="Cambria"/>
              <a:cs typeface="Cambria"/>
              <a:sym typeface="Cambria"/>
            </a:endParaRPr>
          </a:p>
          <a:p>
            <a:pPr indent="457200" lvl="0" marL="457200" rtl="0" algn="just">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Siddharth Kashyap </a:t>
            </a:r>
            <a:endParaRPr sz="1900">
              <a:solidFill>
                <a:schemeClr val="dk1"/>
              </a:solidFill>
              <a:highlight>
                <a:srgbClr val="FFFFFF"/>
              </a:highlight>
              <a:latin typeface="Cambria"/>
              <a:ea typeface="Cambria"/>
              <a:cs typeface="Cambria"/>
              <a:sym typeface="Cambria"/>
            </a:endParaRPr>
          </a:p>
          <a:p>
            <a:pPr indent="457200" lvl="0" marL="457200" rtl="0" algn="l">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Kumail Haider Ganaie </a:t>
            </a:r>
            <a:endParaRPr sz="1900">
              <a:solidFill>
                <a:schemeClr val="dk1"/>
              </a:solidFill>
              <a:highlight>
                <a:srgbClr val="FFFFFF"/>
              </a:highlight>
              <a:latin typeface="Cambria"/>
              <a:ea typeface="Cambria"/>
              <a:cs typeface="Cambria"/>
              <a:sym typeface="Cambria"/>
            </a:endParaRPr>
          </a:p>
          <a:p>
            <a:pPr indent="457200" lvl="0" marL="457200" rtl="0" algn="l">
              <a:lnSpc>
                <a:spcPct val="115000"/>
              </a:lnSpc>
              <a:spcBef>
                <a:spcPts val="0"/>
              </a:spcBef>
              <a:spcAft>
                <a:spcPts val="0"/>
              </a:spcAft>
              <a:buNone/>
            </a:pPr>
            <a:r>
              <a:rPr lang="en-US" sz="1900">
                <a:solidFill>
                  <a:schemeClr val="dk1"/>
                </a:solidFill>
                <a:highlight>
                  <a:srgbClr val="FFFFFF"/>
                </a:highlight>
                <a:latin typeface="Cambria"/>
                <a:ea typeface="Cambria"/>
                <a:cs typeface="Cambria"/>
                <a:sym typeface="Cambria"/>
              </a:rPr>
              <a:t>Nasra Ismail Mohamed</a:t>
            </a:r>
            <a:endParaRPr sz="1900">
              <a:solidFill>
                <a:schemeClr val="dk1"/>
              </a:solidFill>
              <a:highlight>
                <a:srgbClr val="FFFFFF"/>
              </a:highlight>
              <a:latin typeface="Cambria"/>
              <a:ea typeface="Cambria"/>
              <a:cs typeface="Cambria"/>
              <a:sym typeface="Cambria"/>
            </a:endParaRPr>
          </a:p>
          <a:p>
            <a:pPr indent="0" lvl="0" marL="914400" rtl="0" algn="just">
              <a:lnSpc>
                <a:spcPct val="115000"/>
              </a:lnSpc>
              <a:spcBef>
                <a:spcPts val="0"/>
              </a:spcBef>
              <a:spcAft>
                <a:spcPts val="0"/>
              </a:spcAft>
              <a:buClr>
                <a:schemeClr val="dk1"/>
              </a:buClr>
              <a:buSzPts val="1100"/>
              <a:buFont typeface="Arial"/>
              <a:buNone/>
            </a:pPr>
            <a:r>
              <a:rPr lang="en-US" sz="1900">
                <a:solidFill>
                  <a:schemeClr val="dk1"/>
                </a:solidFill>
                <a:highlight>
                  <a:srgbClr val="FFFFFF"/>
                </a:highlight>
                <a:latin typeface="Cambria"/>
                <a:ea typeface="Cambria"/>
                <a:cs typeface="Cambria"/>
                <a:sym typeface="Cambria"/>
              </a:rPr>
              <a:t>Maitreyee Bhagwat</a:t>
            </a:r>
            <a:endParaRPr sz="1900">
              <a:solidFill>
                <a:schemeClr val="dk1"/>
              </a:solidFill>
              <a:highlight>
                <a:srgbClr val="FFFFFF"/>
              </a:highlight>
              <a:latin typeface="Cambria"/>
              <a:ea typeface="Cambria"/>
              <a:cs typeface="Cambria"/>
              <a:sym typeface="Cambria"/>
            </a:endParaRPr>
          </a:p>
          <a:p>
            <a:pPr indent="0" lvl="0" marL="914400" rtl="0" algn="l">
              <a:lnSpc>
                <a:spcPct val="115000"/>
              </a:lnSpc>
              <a:spcBef>
                <a:spcPts val="0"/>
              </a:spcBef>
              <a:spcAft>
                <a:spcPts val="0"/>
              </a:spcAft>
              <a:buClr>
                <a:schemeClr val="dk1"/>
              </a:buClr>
              <a:buSzPts val="1100"/>
              <a:buFont typeface="Arial"/>
              <a:buNone/>
            </a:pPr>
            <a:r>
              <a:rPr lang="en-US" sz="1900">
                <a:solidFill>
                  <a:schemeClr val="dk1"/>
                </a:solidFill>
                <a:highlight>
                  <a:srgbClr val="FFFFFF"/>
                </a:highlight>
                <a:latin typeface="Cambria"/>
                <a:ea typeface="Cambria"/>
                <a:cs typeface="Cambria"/>
                <a:sym typeface="Cambria"/>
              </a:rPr>
              <a:t>Anna Plieva</a:t>
            </a:r>
            <a:endParaRPr sz="210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8"/>
          <p:cNvPicPr preferRelativeResize="0"/>
          <p:nvPr/>
        </p:nvPicPr>
        <p:blipFill rotWithShape="1">
          <a:blip r:embed="rId3">
            <a:alphaModFix/>
          </a:blip>
          <a:srcRect b="5491" l="0" r="0" t="0"/>
          <a:stretch/>
        </p:blipFill>
        <p:spPr>
          <a:xfrm>
            <a:off x="0" y="801100"/>
            <a:ext cx="12192000" cy="3934361"/>
          </a:xfrm>
          <a:prstGeom prst="rect">
            <a:avLst/>
          </a:prstGeom>
          <a:noFill/>
          <a:ln>
            <a:noFill/>
          </a:ln>
        </p:spPr>
      </p:pic>
      <p:sp>
        <p:nvSpPr>
          <p:cNvPr id="63" name="Google Shape;63;p8"/>
          <p:cNvSpPr txBox="1"/>
          <p:nvPr/>
        </p:nvSpPr>
        <p:spPr>
          <a:xfrm>
            <a:off x="354600" y="4864000"/>
            <a:ext cx="11482800" cy="11613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Clr>
                <a:schemeClr val="dk1"/>
              </a:buClr>
              <a:buSzPts val="1500"/>
              <a:buFont typeface="Arial"/>
              <a:buNone/>
            </a:pPr>
            <a:r>
              <a:rPr b="1" lang="en-US" sz="2800">
                <a:solidFill>
                  <a:srgbClr val="A64D79"/>
                </a:solidFill>
                <a:latin typeface="Cambria"/>
                <a:ea typeface="Cambria"/>
                <a:cs typeface="Cambria"/>
                <a:sym typeface="Cambria"/>
              </a:rPr>
              <a:t>One Brain. Many Tasks.</a:t>
            </a:r>
            <a:endParaRPr b="1" sz="2800">
              <a:solidFill>
                <a:srgbClr val="A64D79"/>
              </a:solidFill>
              <a:latin typeface="Cambria"/>
              <a:ea typeface="Cambria"/>
              <a:cs typeface="Cambria"/>
              <a:sym typeface="Cambria"/>
            </a:endParaRPr>
          </a:p>
          <a:p>
            <a:pPr indent="0" lvl="0" marL="0" rtl="0" algn="ctr">
              <a:spcBef>
                <a:spcPts val="0"/>
              </a:spcBef>
              <a:spcAft>
                <a:spcPts val="0"/>
              </a:spcAft>
              <a:buClr>
                <a:schemeClr val="dk1"/>
              </a:buClr>
              <a:buSzPts val="1500"/>
              <a:buFont typeface="Arial"/>
              <a:buNone/>
            </a:pPr>
            <a:r>
              <a:rPr i="1" lang="en-US" sz="2800">
                <a:solidFill>
                  <a:srgbClr val="A64D79"/>
                </a:solidFill>
                <a:latin typeface="Cambria"/>
                <a:ea typeface="Cambria"/>
                <a:cs typeface="Cambria"/>
                <a:sym typeface="Cambria"/>
              </a:rPr>
              <a:t>Does it rely on the same neural toolkit?</a:t>
            </a:r>
            <a:r>
              <a:rPr lang="en-US" sz="2800">
                <a:solidFill>
                  <a:srgbClr val="A64D79"/>
                </a:solidFill>
                <a:latin typeface="Cambria"/>
                <a:ea typeface="Cambria"/>
                <a:cs typeface="Cambria"/>
                <a:sym typeface="Cambria"/>
              </a:rPr>
              <a:t> </a:t>
            </a:r>
            <a:endParaRPr sz="2500">
              <a:solidFill>
                <a:schemeClr val="dk2"/>
              </a:solidFill>
              <a:latin typeface="Cambria"/>
              <a:ea typeface="Cambria"/>
              <a:cs typeface="Cambria"/>
              <a:sym typeface="Cambria"/>
            </a:endParaRPr>
          </a:p>
          <a:p>
            <a:pPr indent="0" lvl="0" marL="0" rtl="0" algn="l">
              <a:spcBef>
                <a:spcPts val="0"/>
              </a:spcBef>
              <a:spcAft>
                <a:spcPts val="0"/>
              </a:spcAft>
              <a:buClr>
                <a:schemeClr val="dk1"/>
              </a:buClr>
              <a:buSzPts val="1500"/>
              <a:buFont typeface="Arial"/>
              <a:buNone/>
            </a:pPr>
            <a:r>
              <a:t/>
            </a:r>
            <a:endParaRPr b="1" sz="2800">
              <a:solidFill>
                <a:srgbClr val="A64D79"/>
              </a:solidFill>
              <a:latin typeface="Cambria"/>
              <a:ea typeface="Cambria"/>
              <a:cs typeface="Cambria"/>
              <a:sym typeface="Cambria"/>
            </a:endParaRPr>
          </a:p>
          <a:p>
            <a:pPr indent="0" lvl="0" marL="0" rtl="0" algn="l">
              <a:spcBef>
                <a:spcPts val="0"/>
              </a:spcBef>
              <a:spcAft>
                <a:spcPts val="0"/>
              </a:spcAft>
              <a:buClr>
                <a:schemeClr val="dk1"/>
              </a:buClr>
              <a:buSzPts val="1500"/>
              <a:buFont typeface="Arial"/>
              <a:buNone/>
            </a:pPr>
            <a:r>
              <a:t/>
            </a:r>
            <a:endParaRPr sz="3700">
              <a:solidFill>
                <a:srgbClr val="A64D79"/>
              </a:solidFill>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grpSp>
        <p:nvGrpSpPr>
          <p:cNvPr id="68" name="Google Shape;68;p9"/>
          <p:cNvGrpSpPr/>
          <p:nvPr/>
        </p:nvGrpSpPr>
        <p:grpSpPr>
          <a:xfrm>
            <a:off x="954057" y="645473"/>
            <a:ext cx="10283885" cy="5113824"/>
            <a:chOff x="714775" y="539550"/>
            <a:chExt cx="7716000" cy="4124384"/>
          </a:xfrm>
        </p:grpSpPr>
        <p:sp>
          <p:nvSpPr>
            <p:cNvPr id="69" name="Google Shape;69;p9"/>
            <p:cNvSpPr/>
            <p:nvPr/>
          </p:nvSpPr>
          <p:spPr>
            <a:xfrm flipH="1">
              <a:off x="714775" y="539550"/>
              <a:ext cx="7716000" cy="3173700"/>
            </a:xfrm>
            <a:prstGeom prst="rect">
              <a:avLst/>
            </a:prstGeom>
            <a:solidFill>
              <a:srgbClr val="F2A65A">
                <a:alpha val="90200"/>
              </a:srgb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0" name="Google Shape;70;p9"/>
            <p:cNvSpPr/>
            <p:nvPr/>
          </p:nvSpPr>
          <p:spPr>
            <a:xfrm flipH="1" rot="10800000">
              <a:off x="4318194" y="3541934"/>
              <a:ext cx="618000" cy="1122000"/>
            </a:xfrm>
            <a:prstGeom prst="rtTriangle">
              <a:avLst/>
            </a:prstGeom>
            <a:solidFill>
              <a:srgbClr val="F2A65A">
                <a:alpha val="90200"/>
              </a:srgbClr>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sp>
        <p:nvSpPr>
          <p:cNvPr id="71" name="Google Shape;71;p9"/>
          <p:cNvSpPr txBox="1"/>
          <p:nvPr>
            <p:ph type="title"/>
          </p:nvPr>
        </p:nvSpPr>
        <p:spPr>
          <a:xfrm>
            <a:off x="1410447" y="1098824"/>
            <a:ext cx="9395100" cy="3060900"/>
          </a:xfrm>
          <a:prstGeom prst="rect">
            <a:avLst/>
          </a:prstGeom>
          <a:noFill/>
          <a:ln>
            <a:noFill/>
          </a:ln>
        </p:spPr>
        <p:txBody>
          <a:bodyPr anchorCtr="0" anchor="ctr" bIns="0" lIns="121900" spcFirstLastPara="1" rIns="121900" wrap="square" tIns="121900">
            <a:noAutofit/>
          </a:bodyPr>
          <a:lstStyle/>
          <a:p>
            <a:pPr indent="0" lvl="0" marL="0" rtl="0" algn="ctr">
              <a:spcBef>
                <a:spcPts val="0"/>
              </a:spcBef>
              <a:spcAft>
                <a:spcPts val="0"/>
              </a:spcAft>
              <a:buNone/>
            </a:pPr>
            <a:r>
              <a:rPr b="1" lang="en-US" sz="3000">
                <a:solidFill>
                  <a:srgbClr val="4A4276"/>
                </a:solidFill>
                <a:latin typeface="Cambria"/>
                <a:ea typeface="Cambria"/>
                <a:cs typeface="Cambria"/>
                <a:sym typeface="Cambria"/>
              </a:rPr>
              <a:t>WE EXPECTED EACH TASK TO ACTIVATE ITS OWN SPECIALIZED BRAIN REGIONS, WHILE ALSO PREDICTING THAT THEY WOULD CONVERGE ON A COMMON SET OF CONTROL NETWORKS, PARTICULARLY THE FRONTOPARIETAL AND DORSAL ATTENTION NETWORKS, WHICH HELP COORDINATE COMPLEX BEHAVIOUR REGARDLESS OF THE TASK.</a:t>
            </a:r>
            <a:endParaRPr b="1" sz="7600">
              <a:solidFill>
                <a:srgbClr val="4A4276"/>
              </a:solidFill>
              <a:latin typeface="Cambria"/>
              <a:ea typeface="Cambria"/>
              <a:cs typeface="Cambria"/>
              <a:sym typeface="Cambria"/>
            </a:endParaRPr>
          </a:p>
        </p:txBody>
      </p:sp>
      <p:sp>
        <p:nvSpPr>
          <p:cNvPr id="72" name="Google Shape;72;p9"/>
          <p:cNvSpPr txBox="1"/>
          <p:nvPr>
            <p:ph idx="1" type="subTitle"/>
          </p:nvPr>
        </p:nvSpPr>
        <p:spPr>
          <a:xfrm>
            <a:off x="1957693" y="5759176"/>
            <a:ext cx="7598100" cy="558300"/>
          </a:xfrm>
          <a:prstGeom prst="rect">
            <a:avLst/>
          </a:prstGeom>
          <a:noFill/>
          <a:ln>
            <a:noFill/>
          </a:ln>
        </p:spPr>
        <p:txBody>
          <a:bodyPr anchorCtr="0" anchor="ctr" bIns="121900" lIns="121900" spcFirstLastPara="1" rIns="121900" wrap="square" tIns="121900">
            <a:noAutofit/>
          </a:bodyPr>
          <a:lstStyle/>
          <a:p>
            <a:pPr indent="0" lvl="0" marL="0" rtl="0" algn="ctr">
              <a:lnSpc>
                <a:spcPct val="100000"/>
              </a:lnSpc>
              <a:spcBef>
                <a:spcPts val="0"/>
              </a:spcBef>
              <a:spcAft>
                <a:spcPts val="0"/>
              </a:spcAft>
              <a:buSzPts val="1600"/>
              <a:buNone/>
            </a:pPr>
            <a:r>
              <a:rPr lang="en-US">
                <a:solidFill>
                  <a:srgbClr val="4A4276"/>
                </a:solidFill>
                <a:latin typeface="Cambria"/>
                <a:ea typeface="Cambria"/>
                <a:cs typeface="Cambria"/>
                <a:sym typeface="Cambria"/>
              </a:rPr>
              <a:t>Hypothesis</a:t>
            </a:r>
            <a:endParaRPr>
              <a:solidFill>
                <a:srgbClr val="4A4276"/>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0" title="images.jpeg"/>
          <p:cNvPicPr preferRelativeResize="0"/>
          <p:nvPr/>
        </p:nvPicPr>
        <p:blipFill>
          <a:blip r:embed="rId3">
            <a:alphaModFix/>
          </a:blip>
          <a:stretch>
            <a:fillRect/>
          </a:stretch>
        </p:blipFill>
        <p:spPr>
          <a:xfrm>
            <a:off x="1358900" y="1033583"/>
            <a:ext cx="9474200" cy="3403600"/>
          </a:xfrm>
          <a:prstGeom prst="rect">
            <a:avLst/>
          </a:prstGeom>
          <a:noFill/>
          <a:ln>
            <a:noFill/>
          </a:ln>
        </p:spPr>
      </p:pic>
      <p:sp>
        <p:nvSpPr>
          <p:cNvPr id="78" name="Google Shape;78;p10"/>
          <p:cNvSpPr txBox="1"/>
          <p:nvPr/>
        </p:nvSpPr>
        <p:spPr>
          <a:xfrm>
            <a:off x="1031600" y="4910017"/>
            <a:ext cx="10128900" cy="914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400">
                <a:solidFill>
                  <a:schemeClr val="dk2"/>
                </a:solidFill>
                <a:latin typeface="Cambria"/>
                <a:ea typeface="Cambria"/>
                <a:cs typeface="Cambria"/>
                <a:sym typeface="Cambria"/>
              </a:rPr>
              <a:t>100 Young adults | 3T fMRI | High Resolution Images</a:t>
            </a:r>
            <a:endParaRPr b="1" sz="2400">
              <a:solidFill>
                <a:schemeClr val="dk2"/>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1"/>
          <p:cNvPicPr preferRelativeResize="0"/>
          <p:nvPr/>
        </p:nvPicPr>
        <p:blipFill>
          <a:blip r:embed="rId3">
            <a:alphaModFix/>
          </a:blip>
          <a:stretch>
            <a:fillRect/>
          </a:stretch>
        </p:blipFill>
        <p:spPr>
          <a:xfrm>
            <a:off x="4965162" y="203200"/>
            <a:ext cx="6479055" cy="6451601"/>
          </a:xfrm>
          <a:prstGeom prst="rect">
            <a:avLst/>
          </a:prstGeom>
          <a:noFill/>
          <a:ln>
            <a:noFill/>
          </a:ln>
        </p:spPr>
      </p:pic>
      <p:sp>
        <p:nvSpPr>
          <p:cNvPr id="84" name="Google Shape;84;p11"/>
          <p:cNvSpPr txBox="1"/>
          <p:nvPr/>
        </p:nvSpPr>
        <p:spPr>
          <a:xfrm>
            <a:off x="0" y="2544000"/>
            <a:ext cx="5079900" cy="1770000"/>
          </a:xfrm>
          <a:prstGeom prst="rect">
            <a:avLst/>
          </a:prstGeom>
          <a:noFill/>
          <a:ln>
            <a:noFill/>
          </a:ln>
        </p:spPr>
        <p:txBody>
          <a:bodyPr anchorCtr="0" anchor="t" bIns="121900" lIns="121900" spcFirstLastPara="1" rIns="121900" wrap="square" tIns="121900">
            <a:spAutoFit/>
          </a:bodyPr>
          <a:lstStyle/>
          <a:p>
            <a:pPr indent="0" lvl="0" marL="0" rtl="0" algn="ctr">
              <a:spcBef>
                <a:spcPts val="0"/>
              </a:spcBef>
              <a:spcAft>
                <a:spcPts val="0"/>
              </a:spcAft>
              <a:buNone/>
            </a:pPr>
            <a:r>
              <a:rPr b="1" lang="en-US" sz="3300">
                <a:solidFill>
                  <a:srgbClr val="1F1B3A"/>
                </a:solidFill>
                <a:latin typeface="Cambria"/>
                <a:ea typeface="Cambria"/>
                <a:cs typeface="Cambria"/>
                <a:sym typeface="Cambria"/>
              </a:rPr>
              <a:t>Parcellation of </a:t>
            </a:r>
            <a:endParaRPr b="1" sz="3300">
              <a:solidFill>
                <a:srgbClr val="1F1B3A"/>
              </a:solidFill>
              <a:latin typeface="Cambria"/>
              <a:ea typeface="Cambria"/>
              <a:cs typeface="Cambria"/>
              <a:sym typeface="Cambria"/>
            </a:endParaRPr>
          </a:p>
          <a:p>
            <a:pPr indent="0" lvl="0" marL="0" rtl="0" algn="ctr">
              <a:spcBef>
                <a:spcPts val="0"/>
              </a:spcBef>
              <a:spcAft>
                <a:spcPts val="0"/>
              </a:spcAft>
              <a:buNone/>
            </a:pPr>
            <a:r>
              <a:rPr b="1" lang="en-US" sz="3300">
                <a:solidFill>
                  <a:srgbClr val="1F1B3A"/>
                </a:solidFill>
                <a:latin typeface="Cambria"/>
                <a:ea typeface="Cambria"/>
                <a:cs typeface="Cambria"/>
                <a:sym typeface="Cambria"/>
              </a:rPr>
              <a:t>Human Brain </a:t>
            </a:r>
            <a:endParaRPr b="1" sz="3300">
              <a:solidFill>
                <a:srgbClr val="1F1B3A"/>
              </a:solidFill>
              <a:latin typeface="Cambria"/>
              <a:ea typeface="Cambria"/>
              <a:cs typeface="Cambria"/>
              <a:sym typeface="Cambria"/>
            </a:endParaRPr>
          </a:p>
          <a:p>
            <a:pPr indent="0" lvl="0" marL="0" rtl="0" algn="ctr">
              <a:spcBef>
                <a:spcPts val="0"/>
              </a:spcBef>
              <a:spcAft>
                <a:spcPts val="0"/>
              </a:spcAft>
              <a:buNone/>
            </a:pPr>
            <a:r>
              <a:rPr b="1" lang="en-US" sz="3300">
                <a:solidFill>
                  <a:srgbClr val="1F1B3A"/>
                </a:solidFill>
                <a:latin typeface="Cambria"/>
                <a:ea typeface="Cambria"/>
                <a:cs typeface="Cambria"/>
                <a:sym typeface="Cambria"/>
              </a:rPr>
              <a:t>(HCP-MMP)</a:t>
            </a:r>
            <a:endParaRPr b="1" sz="3300">
              <a:solidFill>
                <a:srgbClr val="1F1B3A"/>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12"/>
          <p:cNvGrpSpPr/>
          <p:nvPr/>
        </p:nvGrpSpPr>
        <p:grpSpPr>
          <a:xfrm>
            <a:off x="363193" y="559506"/>
            <a:ext cx="11465613" cy="5738988"/>
            <a:chOff x="217087" y="419589"/>
            <a:chExt cx="8599425" cy="4304349"/>
          </a:xfrm>
        </p:grpSpPr>
        <p:pic>
          <p:nvPicPr>
            <p:cNvPr id="90" name="Google Shape;90;p12"/>
            <p:cNvPicPr preferRelativeResize="0"/>
            <p:nvPr/>
          </p:nvPicPr>
          <p:blipFill>
            <a:blip r:embed="rId3">
              <a:alphaModFix/>
            </a:blip>
            <a:stretch>
              <a:fillRect/>
            </a:stretch>
          </p:blipFill>
          <p:spPr>
            <a:xfrm>
              <a:off x="4140212" y="2177088"/>
              <a:ext cx="4676301" cy="2546850"/>
            </a:xfrm>
            <a:prstGeom prst="rect">
              <a:avLst/>
            </a:prstGeom>
            <a:noFill/>
            <a:ln>
              <a:noFill/>
            </a:ln>
          </p:spPr>
        </p:pic>
        <p:grpSp>
          <p:nvGrpSpPr>
            <p:cNvPr id="91" name="Google Shape;91;p12"/>
            <p:cNvGrpSpPr/>
            <p:nvPr/>
          </p:nvGrpSpPr>
          <p:grpSpPr>
            <a:xfrm>
              <a:off x="217087" y="419589"/>
              <a:ext cx="3643427" cy="3639224"/>
              <a:chOff x="174475" y="196550"/>
              <a:chExt cx="3643427" cy="3639224"/>
            </a:xfrm>
          </p:grpSpPr>
          <p:pic>
            <p:nvPicPr>
              <p:cNvPr id="92" name="Google Shape;92;p12"/>
              <p:cNvPicPr preferRelativeResize="0"/>
              <p:nvPr/>
            </p:nvPicPr>
            <p:blipFill>
              <a:blip r:embed="rId4">
                <a:alphaModFix/>
              </a:blip>
              <a:stretch>
                <a:fillRect/>
              </a:stretch>
            </p:blipFill>
            <p:spPr>
              <a:xfrm>
                <a:off x="174475" y="196550"/>
                <a:ext cx="3643427" cy="3639224"/>
              </a:xfrm>
              <a:prstGeom prst="rect">
                <a:avLst/>
              </a:prstGeom>
              <a:noFill/>
              <a:ln>
                <a:noFill/>
              </a:ln>
            </p:spPr>
          </p:pic>
          <p:sp>
            <p:nvSpPr>
              <p:cNvPr id="93" name="Google Shape;93;p12"/>
              <p:cNvSpPr/>
              <p:nvPr/>
            </p:nvSpPr>
            <p:spPr>
              <a:xfrm>
                <a:off x="231800" y="3145700"/>
                <a:ext cx="552000" cy="640200"/>
              </a:xfrm>
              <a:prstGeom prst="rect">
                <a:avLst/>
              </a:prstGeom>
              <a:solidFill>
                <a:srgbClr val="65C1E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t/>
                </a:r>
                <a:endParaRPr sz="1900"/>
              </a:p>
            </p:txBody>
          </p:sp>
        </p:grpSp>
        <p:sp>
          <p:nvSpPr>
            <p:cNvPr id="94" name="Google Shape;94;p12"/>
            <p:cNvSpPr txBox="1"/>
            <p:nvPr/>
          </p:nvSpPr>
          <p:spPr>
            <a:xfrm>
              <a:off x="350337" y="4064513"/>
              <a:ext cx="3429000" cy="659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400">
                  <a:solidFill>
                    <a:srgbClr val="1F1B3A"/>
                  </a:solidFill>
                  <a:latin typeface="Cambria"/>
                  <a:ea typeface="Cambria"/>
                  <a:cs typeface="Cambria"/>
                  <a:sym typeface="Cambria"/>
                </a:rPr>
                <a:t>N-Back task</a:t>
              </a:r>
              <a:endParaRPr b="1" sz="2400">
                <a:solidFill>
                  <a:srgbClr val="1F1B3A"/>
                </a:solidFill>
                <a:latin typeface="Cambria"/>
                <a:ea typeface="Cambria"/>
                <a:cs typeface="Cambria"/>
                <a:sym typeface="Cambria"/>
              </a:endParaRPr>
            </a:p>
            <a:p>
              <a:pPr indent="0" lvl="0" marL="0" rtl="0" algn="ctr">
                <a:spcBef>
                  <a:spcPts val="0"/>
                </a:spcBef>
                <a:spcAft>
                  <a:spcPts val="0"/>
                </a:spcAft>
                <a:buNone/>
              </a:pPr>
              <a:r>
                <a:rPr b="1" lang="en-US" sz="2400">
                  <a:solidFill>
                    <a:srgbClr val="1F1B3A"/>
                  </a:solidFill>
                  <a:latin typeface="Cambria"/>
                  <a:ea typeface="Cambria"/>
                  <a:cs typeface="Cambria"/>
                  <a:sym typeface="Cambria"/>
                </a:rPr>
                <a:t>2 Back / 0 Back</a:t>
              </a:r>
              <a:endParaRPr b="1" sz="2400">
                <a:solidFill>
                  <a:srgbClr val="1F1B3A"/>
                </a:solidFill>
                <a:latin typeface="Cambria"/>
                <a:ea typeface="Cambria"/>
                <a:cs typeface="Cambria"/>
                <a:sym typeface="Cambria"/>
              </a:endParaRPr>
            </a:p>
          </p:txBody>
        </p:sp>
        <p:sp>
          <p:nvSpPr>
            <p:cNvPr id="95" name="Google Shape;95;p12"/>
            <p:cNvSpPr txBox="1"/>
            <p:nvPr/>
          </p:nvSpPr>
          <p:spPr>
            <a:xfrm>
              <a:off x="4499512" y="1517688"/>
              <a:ext cx="3824700" cy="6594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2400">
                  <a:solidFill>
                    <a:srgbClr val="1F1B3A"/>
                  </a:solidFill>
                  <a:latin typeface="Cambria"/>
                  <a:ea typeface="Cambria"/>
                  <a:cs typeface="Cambria"/>
                  <a:sym typeface="Cambria"/>
                </a:rPr>
                <a:t>Fear/ Neutral</a:t>
              </a:r>
              <a:endParaRPr b="1" sz="2400">
                <a:solidFill>
                  <a:srgbClr val="1F1B3A"/>
                </a:solidFill>
                <a:latin typeface="Cambria"/>
                <a:ea typeface="Cambria"/>
                <a:cs typeface="Cambria"/>
                <a:sym typeface="Cambri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3"/>
          <p:cNvPicPr preferRelativeResize="0"/>
          <p:nvPr/>
        </p:nvPicPr>
        <p:blipFill rotWithShape="1">
          <a:blip r:embed="rId3">
            <a:alphaModFix/>
          </a:blip>
          <a:srcRect b="1918" l="2462" r="1743" t="1677"/>
          <a:stretch/>
        </p:blipFill>
        <p:spPr>
          <a:xfrm>
            <a:off x="253150" y="1961775"/>
            <a:ext cx="5492525" cy="4086225"/>
          </a:xfrm>
          <a:prstGeom prst="rect">
            <a:avLst/>
          </a:prstGeom>
          <a:noFill/>
          <a:ln>
            <a:noFill/>
          </a:ln>
        </p:spPr>
      </p:pic>
      <p:pic>
        <p:nvPicPr>
          <p:cNvPr id="102" name="Google Shape;102;p13"/>
          <p:cNvPicPr preferRelativeResize="0"/>
          <p:nvPr/>
        </p:nvPicPr>
        <p:blipFill rotWithShape="1">
          <a:blip r:embed="rId4">
            <a:alphaModFix/>
          </a:blip>
          <a:srcRect b="998" l="1088" r="0" t="2112"/>
          <a:stretch/>
        </p:blipFill>
        <p:spPr>
          <a:xfrm>
            <a:off x="6267325" y="1961775"/>
            <a:ext cx="5671525" cy="3959125"/>
          </a:xfrm>
          <a:prstGeom prst="rect">
            <a:avLst/>
          </a:prstGeom>
          <a:noFill/>
          <a:ln>
            <a:noFill/>
          </a:ln>
        </p:spPr>
      </p:pic>
      <p:sp>
        <p:nvSpPr>
          <p:cNvPr id="103" name="Google Shape;103;p13"/>
          <p:cNvSpPr/>
          <p:nvPr/>
        </p:nvSpPr>
        <p:spPr>
          <a:xfrm>
            <a:off x="548640" y="457200"/>
            <a:ext cx="10515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1B3A"/>
              </a:buClr>
              <a:buSzPts val="3200"/>
              <a:buFont typeface="Cambria"/>
              <a:buNone/>
            </a:pPr>
            <a:r>
              <a:rPr b="1" lang="en-US" sz="3200">
                <a:solidFill>
                  <a:srgbClr val="1F1B3A"/>
                </a:solidFill>
                <a:latin typeface="Cambria"/>
                <a:ea typeface="Cambria"/>
                <a:cs typeface="Cambria"/>
                <a:sym typeface="Cambria"/>
              </a:rPr>
              <a:t>Mass univariate analysis. Comparing mean bold activation between task and control, for WM &amp; EM</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4"/>
          <p:cNvSpPr/>
          <p:nvPr/>
        </p:nvSpPr>
        <p:spPr>
          <a:xfrm>
            <a:off x="838190" y="123425"/>
            <a:ext cx="105156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3A"/>
              </a:buClr>
              <a:buSzPts val="3200"/>
              <a:buFont typeface="Cambria"/>
              <a:buNone/>
            </a:pPr>
            <a:r>
              <a:rPr b="1" lang="en-US" sz="2600">
                <a:solidFill>
                  <a:srgbClr val="1F1B3A"/>
                </a:solidFill>
                <a:latin typeface="Cambria"/>
                <a:ea typeface="Cambria"/>
                <a:cs typeface="Cambria"/>
                <a:sym typeface="Cambria"/>
              </a:rPr>
              <a:t>Permutation T-test Results</a:t>
            </a:r>
            <a:endParaRPr b="1" sz="2600">
              <a:solidFill>
                <a:srgbClr val="1F1B3A"/>
              </a:solidFill>
              <a:latin typeface="Cambria"/>
              <a:ea typeface="Cambria"/>
              <a:cs typeface="Cambria"/>
              <a:sym typeface="Cambria"/>
            </a:endParaRPr>
          </a:p>
          <a:p>
            <a:pPr indent="0" lvl="0" marL="0" marR="0" rtl="0" algn="l">
              <a:spcBef>
                <a:spcPts val="0"/>
              </a:spcBef>
              <a:spcAft>
                <a:spcPts val="0"/>
              </a:spcAft>
              <a:buClr>
                <a:srgbClr val="1F1B3A"/>
              </a:buClr>
              <a:buSzPts val="3200"/>
              <a:buFont typeface="Cambria"/>
              <a:buNone/>
            </a:pPr>
            <a:r>
              <a:t/>
            </a:r>
            <a:endParaRPr b="1" sz="2600">
              <a:solidFill>
                <a:srgbClr val="1F1B3A"/>
              </a:solidFill>
              <a:latin typeface="Cambria"/>
              <a:ea typeface="Cambria"/>
              <a:cs typeface="Cambria"/>
              <a:sym typeface="Cambria"/>
            </a:endParaRPr>
          </a:p>
        </p:txBody>
      </p:sp>
      <p:pic>
        <p:nvPicPr>
          <p:cNvPr id="110" name="Google Shape;110;p14"/>
          <p:cNvPicPr preferRelativeResize="0"/>
          <p:nvPr/>
        </p:nvPicPr>
        <p:blipFill>
          <a:blip r:embed="rId3">
            <a:alphaModFix/>
          </a:blip>
          <a:stretch>
            <a:fillRect/>
          </a:stretch>
        </p:blipFill>
        <p:spPr>
          <a:xfrm>
            <a:off x="94825" y="664300"/>
            <a:ext cx="6049575" cy="5923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15"/>
          <p:cNvPicPr preferRelativeResize="0"/>
          <p:nvPr/>
        </p:nvPicPr>
        <p:blipFill>
          <a:blip r:embed="rId3">
            <a:alphaModFix/>
          </a:blip>
          <a:stretch>
            <a:fillRect/>
          </a:stretch>
        </p:blipFill>
        <p:spPr>
          <a:xfrm>
            <a:off x="3228975" y="700175"/>
            <a:ext cx="5734050" cy="5638800"/>
          </a:xfrm>
          <a:prstGeom prst="rect">
            <a:avLst/>
          </a:prstGeom>
          <a:noFill/>
          <a:ln>
            <a:noFill/>
          </a:ln>
        </p:spPr>
      </p:pic>
      <p:sp>
        <p:nvSpPr>
          <p:cNvPr id="117" name="Google Shape;117;p15"/>
          <p:cNvSpPr/>
          <p:nvPr/>
        </p:nvSpPr>
        <p:spPr>
          <a:xfrm>
            <a:off x="838190" y="123425"/>
            <a:ext cx="105156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3A"/>
              </a:buClr>
              <a:buSzPts val="3200"/>
              <a:buFont typeface="Cambria"/>
              <a:buNone/>
            </a:pPr>
            <a:r>
              <a:rPr b="1" lang="en-US" sz="2600">
                <a:solidFill>
                  <a:srgbClr val="1F1B3A"/>
                </a:solidFill>
                <a:latin typeface="Cambria"/>
                <a:ea typeface="Cambria"/>
                <a:cs typeface="Cambria"/>
                <a:sym typeface="Cambria"/>
              </a:rPr>
              <a:t>Top Regions of Interest and their activation/deactivation directions</a:t>
            </a:r>
            <a:endParaRPr b="1" sz="2600">
              <a:solidFill>
                <a:srgbClr val="1F1B3A"/>
              </a:solidFill>
              <a:latin typeface="Cambria"/>
              <a:ea typeface="Cambria"/>
              <a:cs typeface="Cambria"/>
              <a:sym typeface="Cambria"/>
            </a:endParaRPr>
          </a:p>
          <a:p>
            <a:pPr indent="0" lvl="0" marL="0" marR="0" rtl="0" algn="l">
              <a:spcBef>
                <a:spcPts val="0"/>
              </a:spcBef>
              <a:spcAft>
                <a:spcPts val="0"/>
              </a:spcAft>
              <a:buClr>
                <a:srgbClr val="1F1B3A"/>
              </a:buClr>
              <a:buSzPts val="3200"/>
              <a:buFont typeface="Cambria"/>
              <a:buNone/>
            </a:pPr>
            <a:r>
              <a:t/>
            </a:r>
            <a:endParaRPr b="1" sz="2600">
              <a:solidFill>
                <a:srgbClr val="1F1B3A"/>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16"/>
          <p:cNvPicPr preferRelativeResize="0"/>
          <p:nvPr/>
        </p:nvPicPr>
        <p:blipFill>
          <a:blip r:embed="rId3">
            <a:alphaModFix/>
          </a:blip>
          <a:stretch>
            <a:fillRect/>
          </a:stretch>
        </p:blipFill>
        <p:spPr>
          <a:xfrm>
            <a:off x="3090221" y="763625"/>
            <a:ext cx="5811854" cy="5802200"/>
          </a:xfrm>
          <a:prstGeom prst="rect">
            <a:avLst/>
          </a:prstGeom>
          <a:noFill/>
          <a:ln>
            <a:noFill/>
          </a:ln>
        </p:spPr>
      </p:pic>
      <p:sp>
        <p:nvSpPr>
          <p:cNvPr id="124" name="Google Shape;124;p16"/>
          <p:cNvSpPr/>
          <p:nvPr/>
        </p:nvSpPr>
        <p:spPr>
          <a:xfrm>
            <a:off x="838190" y="123425"/>
            <a:ext cx="105156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3A"/>
              </a:buClr>
              <a:buSzPts val="3200"/>
              <a:buFont typeface="Cambria"/>
              <a:buNone/>
            </a:pPr>
            <a:r>
              <a:rPr b="1" lang="en-US" sz="3200">
                <a:solidFill>
                  <a:srgbClr val="1F1B3A"/>
                </a:solidFill>
                <a:latin typeface="Cambria"/>
                <a:ea typeface="Cambria"/>
                <a:cs typeface="Cambria"/>
                <a:sym typeface="Cambria"/>
              </a:rPr>
              <a:t>1 Sample T-testing Results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nvSpPr>
        <p:spPr>
          <a:xfrm>
            <a:off x="206950" y="160700"/>
            <a:ext cx="9336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Methods: </a:t>
            </a:r>
            <a:r>
              <a:rPr b="1" lang="en-US" sz="2500"/>
              <a:t>GLM. Design Matrix</a:t>
            </a:r>
            <a:endParaRPr b="1" sz="2500"/>
          </a:p>
        </p:txBody>
      </p:sp>
      <p:pic>
        <p:nvPicPr>
          <p:cNvPr id="131" name="Google Shape;131;p17"/>
          <p:cNvPicPr preferRelativeResize="0"/>
          <p:nvPr/>
        </p:nvPicPr>
        <p:blipFill>
          <a:blip r:embed="rId3">
            <a:alphaModFix/>
          </a:blip>
          <a:stretch>
            <a:fillRect/>
          </a:stretch>
        </p:blipFill>
        <p:spPr>
          <a:xfrm>
            <a:off x="294225" y="730100"/>
            <a:ext cx="2856475" cy="6127899"/>
          </a:xfrm>
          <a:prstGeom prst="rect">
            <a:avLst/>
          </a:prstGeom>
          <a:noFill/>
          <a:ln>
            <a:noFill/>
          </a:ln>
        </p:spPr>
      </p:pic>
      <p:pic>
        <p:nvPicPr>
          <p:cNvPr id="132" name="Google Shape;132;p17"/>
          <p:cNvPicPr preferRelativeResize="0"/>
          <p:nvPr/>
        </p:nvPicPr>
        <p:blipFill>
          <a:blip r:embed="rId4">
            <a:alphaModFix/>
          </a:blip>
          <a:stretch>
            <a:fillRect/>
          </a:stretch>
        </p:blipFill>
        <p:spPr>
          <a:xfrm>
            <a:off x="5327625" y="669888"/>
            <a:ext cx="1937850" cy="6248324"/>
          </a:xfrm>
          <a:prstGeom prst="rect">
            <a:avLst/>
          </a:prstGeom>
          <a:noFill/>
          <a:ln>
            <a:noFill/>
          </a:ln>
        </p:spPr>
      </p:pic>
      <p:sp>
        <p:nvSpPr>
          <p:cNvPr id="133" name="Google Shape;133;p17"/>
          <p:cNvSpPr txBox="1"/>
          <p:nvPr/>
        </p:nvSpPr>
        <p:spPr>
          <a:xfrm>
            <a:off x="2886525" y="4866925"/>
            <a:ext cx="24411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Fig. 1 D</a:t>
            </a:r>
            <a:r>
              <a:rPr b="1" lang="en-US">
                <a:solidFill>
                  <a:schemeClr val="dk1"/>
                </a:solidFill>
              </a:rPr>
              <a:t>esign matrix for 1 subject for Working Memory dataset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p:txBody>
      </p:sp>
      <p:sp>
        <p:nvSpPr>
          <p:cNvPr id="134" name="Google Shape;134;p17"/>
          <p:cNvSpPr txBox="1"/>
          <p:nvPr/>
        </p:nvSpPr>
        <p:spPr>
          <a:xfrm>
            <a:off x="8423175" y="651475"/>
            <a:ext cx="378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5" name="Google Shape;135;p17"/>
          <p:cNvSpPr txBox="1"/>
          <p:nvPr/>
        </p:nvSpPr>
        <p:spPr>
          <a:xfrm>
            <a:off x="7064125" y="5536913"/>
            <a:ext cx="390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a:solidFill>
                  <a:schemeClr val="dk1"/>
                </a:solidFill>
              </a:rPr>
              <a:t>Fig. 1 Design matrix for 1 subject for Emotion dataset </a:t>
            </a:r>
            <a:endParaRPr b="1">
              <a:solidFill>
                <a:schemeClr val="dk1"/>
              </a:solidFill>
            </a:endParaRPr>
          </a:p>
          <a:p>
            <a:pPr indent="0" lvl="0" marL="0" rtl="0" algn="l">
              <a:spcBef>
                <a:spcPts val="0"/>
              </a:spcBef>
              <a:spcAft>
                <a:spcPts val="0"/>
              </a:spcAft>
              <a:buNone/>
            </a:pPr>
            <a:r>
              <a:t/>
            </a:r>
            <a:endParaRPr/>
          </a:p>
        </p:txBody>
      </p:sp>
      <p:sp>
        <p:nvSpPr>
          <p:cNvPr id="136" name="Google Shape;136;p17"/>
          <p:cNvSpPr txBox="1"/>
          <p:nvPr/>
        </p:nvSpPr>
        <p:spPr>
          <a:xfrm>
            <a:off x="7391300" y="1192575"/>
            <a:ext cx="4512600" cy="2678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800"/>
              <a:t>We created Design matrix for both datasets and used function </a:t>
            </a:r>
            <a:r>
              <a:rPr b="1" lang="en-US" sz="1800">
                <a:solidFill>
                  <a:schemeClr val="dk1"/>
                </a:solidFill>
              </a:rPr>
              <a:t>make_first_level_design_matrix()</a:t>
            </a:r>
            <a:r>
              <a:rPr lang="en-US" sz="1800">
                <a:solidFill>
                  <a:schemeClr val="dk1"/>
                </a:solidFill>
              </a:rPr>
              <a:t> from nilearn with  default parameters</a:t>
            </a:r>
            <a:r>
              <a:rPr i="1" lang="en-US" sz="1800">
                <a:solidFill>
                  <a:schemeClr val="dk1"/>
                </a:solidFill>
              </a:rPr>
              <a:t> hrf_model='glover', drift_model='cosine'.</a:t>
            </a:r>
            <a:endParaRPr i="1" sz="1800">
              <a:solidFill>
                <a:schemeClr val="dk1"/>
              </a:solidFill>
            </a:endParaRPr>
          </a:p>
          <a:p>
            <a:pPr indent="0" lvl="0" marL="0" rtl="0" algn="just">
              <a:spcBef>
                <a:spcPts val="0"/>
              </a:spcBef>
              <a:spcAft>
                <a:spcPts val="0"/>
              </a:spcAft>
              <a:buNone/>
            </a:pPr>
            <a:r>
              <a:t/>
            </a:r>
            <a:endParaRPr i="1" sz="1800">
              <a:solidFill>
                <a:schemeClr val="dk1"/>
              </a:solidFill>
            </a:endParaRPr>
          </a:p>
          <a:p>
            <a:pPr indent="0" lvl="0" marL="0" rtl="0" algn="just">
              <a:spcBef>
                <a:spcPts val="0"/>
              </a:spcBef>
              <a:spcAft>
                <a:spcPts val="0"/>
              </a:spcAft>
              <a:buNone/>
            </a:pPr>
            <a:r>
              <a:t/>
            </a:r>
            <a:endParaRPr i="1" sz="1800">
              <a:solidFill>
                <a:schemeClr val="dk1"/>
              </a:solidFill>
            </a:endParaRPr>
          </a:p>
          <a:p>
            <a:pPr indent="0" lvl="0" marL="0" rtl="0" algn="just">
              <a:spcBef>
                <a:spcPts val="0"/>
              </a:spcBef>
              <a:spcAft>
                <a:spcPts val="0"/>
              </a:spcAft>
              <a:buNone/>
            </a:pPr>
            <a:r>
              <a:rPr i="1" lang="en-US" sz="1800">
                <a:solidFill>
                  <a:schemeClr val="dk1"/>
                </a:solidFill>
              </a:rPr>
              <a:t>For WM we have 8 regressors and 2 regressors for Emotion</a:t>
            </a:r>
            <a:endParaRPr i="1"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nvSpPr>
        <p:spPr>
          <a:xfrm>
            <a:off x="151000" y="327150"/>
            <a:ext cx="90525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1"/>
                </a:solidFill>
              </a:rPr>
              <a:t>Methods: GLM. Betas and SE</a:t>
            </a:r>
            <a:endParaRPr/>
          </a:p>
        </p:txBody>
      </p:sp>
      <p:pic>
        <p:nvPicPr>
          <p:cNvPr id="143" name="Google Shape;143;p18"/>
          <p:cNvPicPr preferRelativeResize="0"/>
          <p:nvPr/>
        </p:nvPicPr>
        <p:blipFill>
          <a:blip r:embed="rId3">
            <a:alphaModFix/>
          </a:blip>
          <a:stretch>
            <a:fillRect/>
          </a:stretch>
        </p:blipFill>
        <p:spPr>
          <a:xfrm>
            <a:off x="7164950" y="575975"/>
            <a:ext cx="4652526" cy="1295425"/>
          </a:xfrm>
          <a:prstGeom prst="rect">
            <a:avLst/>
          </a:prstGeom>
          <a:noFill/>
          <a:ln>
            <a:noFill/>
          </a:ln>
        </p:spPr>
      </p:pic>
      <p:sp>
        <p:nvSpPr>
          <p:cNvPr id="144" name="Google Shape;144;p18"/>
          <p:cNvSpPr txBox="1"/>
          <p:nvPr/>
        </p:nvSpPr>
        <p:spPr>
          <a:xfrm>
            <a:off x="206150" y="1040100"/>
            <a:ext cx="6958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highlight>
                  <a:schemeClr val="lt1"/>
                </a:highlight>
              </a:rPr>
              <a:t>We performed a subject-wise GLM analysis using </a:t>
            </a:r>
            <a:r>
              <a:rPr b="1" lang="en-US">
                <a:solidFill>
                  <a:schemeClr val="dk1"/>
                </a:solidFill>
                <a:highlight>
                  <a:schemeClr val="lt1"/>
                </a:highlight>
              </a:rPr>
              <a:t>statsmodels </a:t>
            </a:r>
            <a:r>
              <a:rPr lang="en-US">
                <a:solidFill>
                  <a:schemeClr val="dk1"/>
                </a:solidFill>
                <a:highlight>
                  <a:schemeClr val="lt1"/>
                </a:highlight>
              </a:rPr>
              <a:t>on a parcel .</a:t>
            </a:r>
            <a:r>
              <a:rPr lang="en-US">
                <a:solidFill>
                  <a:schemeClr val="dk1"/>
                </a:solidFill>
              </a:rPr>
              <a:t> For each subject and run, we estimated beta coefficients and </a:t>
            </a:r>
            <a:r>
              <a:rPr lang="en-US">
                <a:solidFill>
                  <a:schemeClr val="dk1"/>
                </a:solidFill>
              </a:rPr>
              <a:t>uncertainty</a:t>
            </a:r>
            <a:r>
              <a:rPr lang="en-US">
                <a:solidFill>
                  <a:schemeClr val="dk1"/>
                </a:solidFill>
              </a:rPr>
              <a:t> (SE) and created MNE- reports for each dataset (Emotion, WM) to check every subject.</a:t>
            </a:r>
            <a:endParaRPr>
              <a:solidFill>
                <a:schemeClr val="dk1"/>
              </a:solidFill>
            </a:endParaRPr>
          </a:p>
        </p:txBody>
      </p:sp>
      <p:pic>
        <p:nvPicPr>
          <p:cNvPr id="145" name="Google Shape;145;p18"/>
          <p:cNvPicPr preferRelativeResize="0"/>
          <p:nvPr/>
        </p:nvPicPr>
        <p:blipFill rotWithShape="1">
          <a:blip r:embed="rId4">
            <a:alphaModFix/>
          </a:blip>
          <a:srcRect b="0" l="0" r="1166" t="0"/>
          <a:stretch/>
        </p:blipFill>
        <p:spPr>
          <a:xfrm>
            <a:off x="420075" y="2152925"/>
            <a:ext cx="9481025" cy="4095175"/>
          </a:xfrm>
          <a:prstGeom prst="rect">
            <a:avLst/>
          </a:prstGeom>
          <a:noFill/>
          <a:ln>
            <a:noFill/>
          </a:ln>
        </p:spPr>
      </p:pic>
      <p:sp>
        <p:nvSpPr>
          <p:cNvPr id="146" name="Google Shape;146;p18"/>
          <p:cNvSpPr txBox="1"/>
          <p:nvPr/>
        </p:nvSpPr>
        <p:spPr>
          <a:xfrm>
            <a:off x="348025" y="6248100"/>
            <a:ext cx="11325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t>Fig 3.</a:t>
            </a:r>
            <a:r>
              <a:rPr lang="en-US" sz="1500">
                <a:solidFill>
                  <a:schemeClr val="dk1"/>
                </a:solidFill>
              </a:rPr>
              <a:t> Betas and SE (uncertainty) for Fear condition and for Neut condition. Example from our report for one subject (id 199655)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9"/>
          <p:cNvPicPr preferRelativeResize="0"/>
          <p:nvPr/>
        </p:nvPicPr>
        <p:blipFill rotWithShape="1">
          <a:blip r:embed="rId3">
            <a:alphaModFix/>
          </a:blip>
          <a:srcRect b="0" l="7987" r="0" t="0"/>
          <a:stretch/>
        </p:blipFill>
        <p:spPr>
          <a:xfrm>
            <a:off x="40825" y="2172860"/>
            <a:ext cx="7264200" cy="4563316"/>
          </a:xfrm>
          <a:prstGeom prst="rect">
            <a:avLst/>
          </a:prstGeom>
          <a:noFill/>
          <a:ln>
            <a:noFill/>
          </a:ln>
        </p:spPr>
      </p:pic>
      <p:sp>
        <p:nvSpPr>
          <p:cNvPr id="153" name="Google Shape;153;p19"/>
          <p:cNvSpPr txBox="1"/>
          <p:nvPr/>
        </p:nvSpPr>
        <p:spPr>
          <a:xfrm>
            <a:off x="7177400" y="5470625"/>
            <a:ext cx="4630500" cy="11436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n-US">
                <a:solidFill>
                  <a:schemeClr val="dk1"/>
                </a:solidFill>
              </a:rPr>
              <a:t>The t-statistics were obtained as a result of the one-sample t-test in group analysis (Emotion &gt; Neutral contrast) using GLM.  Only parcels with Holm‑corrected p‑values &lt; 0.05 are displayed. </a:t>
            </a:r>
            <a:endParaRPr/>
          </a:p>
        </p:txBody>
      </p:sp>
      <p:sp>
        <p:nvSpPr>
          <p:cNvPr id="154" name="Google Shape;154;p19"/>
          <p:cNvSpPr txBox="1"/>
          <p:nvPr/>
        </p:nvSpPr>
        <p:spPr>
          <a:xfrm>
            <a:off x="353625" y="199600"/>
            <a:ext cx="7264200" cy="56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sz="2500">
                <a:solidFill>
                  <a:schemeClr val="dk1"/>
                </a:solidFill>
              </a:rPr>
              <a:t>Results: GLM. Group analysis</a:t>
            </a:r>
            <a:endParaRPr/>
          </a:p>
        </p:txBody>
      </p:sp>
      <p:sp>
        <p:nvSpPr>
          <p:cNvPr id="155" name="Google Shape;155;p19"/>
          <p:cNvSpPr txBox="1"/>
          <p:nvPr/>
        </p:nvSpPr>
        <p:spPr>
          <a:xfrm>
            <a:off x="253225" y="769000"/>
            <a:ext cx="8434200" cy="431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b="1" lang="en-US" sz="1600">
                <a:solidFill>
                  <a:schemeClr val="dk1"/>
                </a:solidFill>
              </a:rPr>
              <a:t>Distribution of t-values where p &lt; 0.05 for EMOTION dataset (Holm corrected) </a:t>
            </a:r>
            <a:endParaRPr b="1" sz="1900">
              <a:solidFill>
                <a:schemeClr val="dk1"/>
              </a:solidFill>
            </a:endParaRPr>
          </a:p>
        </p:txBody>
      </p:sp>
      <p:sp>
        <p:nvSpPr>
          <p:cNvPr id="156" name="Google Shape;156;p19"/>
          <p:cNvSpPr txBox="1"/>
          <p:nvPr/>
        </p:nvSpPr>
        <p:spPr>
          <a:xfrm>
            <a:off x="6812475" y="2312475"/>
            <a:ext cx="25200" cy="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txBox="1"/>
          <p:nvPr/>
        </p:nvSpPr>
        <p:spPr>
          <a:xfrm>
            <a:off x="7617825" y="1607825"/>
            <a:ext cx="299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llll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0"/>
          <p:cNvPicPr preferRelativeResize="0"/>
          <p:nvPr/>
        </p:nvPicPr>
        <p:blipFill>
          <a:blip r:embed="rId3">
            <a:alphaModFix/>
          </a:blip>
          <a:stretch>
            <a:fillRect/>
          </a:stretch>
        </p:blipFill>
        <p:spPr>
          <a:xfrm>
            <a:off x="105475" y="2463500"/>
            <a:ext cx="7082851" cy="4316125"/>
          </a:xfrm>
          <a:prstGeom prst="rect">
            <a:avLst/>
          </a:prstGeom>
          <a:noFill/>
          <a:ln>
            <a:noFill/>
          </a:ln>
        </p:spPr>
      </p:pic>
      <p:sp>
        <p:nvSpPr>
          <p:cNvPr id="164" name="Google Shape;164;p20"/>
          <p:cNvSpPr txBox="1"/>
          <p:nvPr/>
        </p:nvSpPr>
        <p:spPr>
          <a:xfrm>
            <a:off x="239075" y="151000"/>
            <a:ext cx="5793300" cy="56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100">
                <a:solidFill>
                  <a:schemeClr val="dk1"/>
                </a:solidFill>
              </a:rPr>
              <a:t> </a:t>
            </a:r>
            <a:r>
              <a:rPr b="1" lang="en-US" sz="2500">
                <a:solidFill>
                  <a:schemeClr val="dk1"/>
                </a:solidFill>
              </a:rPr>
              <a:t>Results: </a:t>
            </a:r>
            <a:r>
              <a:rPr b="1" lang="en-US" sz="2500">
                <a:solidFill>
                  <a:schemeClr val="dk1"/>
                </a:solidFill>
              </a:rPr>
              <a:t>GLM. Group analysis. </a:t>
            </a:r>
            <a:endParaRPr/>
          </a:p>
        </p:txBody>
      </p:sp>
      <p:sp>
        <p:nvSpPr>
          <p:cNvPr id="165" name="Google Shape;165;p20"/>
          <p:cNvSpPr txBox="1"/>
          <p:nvPr/>
        </p:nvSpPr>
        <p:spPr>
          <a:xfrm>
            <a:off x="7303250" y="5236150"/>
            <a:ext cx="4707900" cy="12051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lang="en-US">
                <a:solidFill>
                  <a:schemeClr val="dk1"/>
                </a:solidFill>
              </a:rPr>
              <a:t>The t-statistics were obtained as a result of the </a:t>
            </a:r>
            <a:endParaRPr>
              <a:solidFill>
                <a:schemeClr val="dk1"/>
              </a:solidFill>
            </a:endParaRPr>
          </a:p>
          <a:p>
            <a:pPr indent="0" lvl="0" marL="0" rtl="0" algn="just">
              <a:lnSpc>
                <a:spcPct val="115000"/>
              </a:lnSpc>
              <a:spcBef>
                <a:spcPts val="0"/>
              </a:spcBef>
              <a:spcAft>
                <a:spcPts val="0"/>
              </a:spcAft>
              <a:buNone/>
            </a:pPr>
            <a:r>
              <a:rPr lang="en-US">
                <a:solidFill>
                  <a:schemeClr val="dk1"/>
                </a:solidFill>
              </a:rPr>
              <a:t>one-sample t-test in group analysis (0back&gt; 2back) using GLM.  Only parcels with Holm‑corrected p‑values &lt; 0.05 are displayed.</a:t>
            </a:r>
            <a:r>
              <a:rPr lang="en-US" sz="1800">
                <a:solidFill>
                  <a:schemeClr val="dk1"/>
                </a:solidFill>
                <a:latin typeface="Times New Roman"/>
                <a:ea typeface="Times New Roman"/>
                <a:cs typeface="Times New Roman"/>
                <a:sym typeface="Times New Roman"/>
              </a:rPr>
              <a:t> </a:t>
            </a:r>
            <a:endParaRPr sz="2000"/>
          </a:p>
        </p:txBody>
      </p:sp>
      <p:sp>
        <p:nvSpPr>
          <p:cNvPr id="166" name="Google Shape;166;p20"/>
          <p:cNvSpPr txBox="1"/>
          <p:nvPr/>
        </p:nvSpPr>
        <p:spPr>
          <a:xfrm>
            <a:off x="239074" y="720400"/>
            <a:ext cx="9916200" cy="4617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rPr b="1" lang="en-US" sz="1800">
                <a:solidFill>
                  <a:schemeClr val="dk1"/>
                </a:solidFill>
              </a:rPr>
              <a:t>Distribution of t-values where p &lt; 0.05 for Working Memory dataset  </a:t>
            </a:r>
            <a:r>
              <a:rPr b="1" lang="en-US" sz="1800">
                <a:solidFill>
                  <a:schemeClr val="dk1"/>
                </a:solidFill>
              </a:rPr>
              <a:t>(Holm corrected)</a:t>
            </a:r>
            <a:endParaRPr b="1" sz="1800"/>
          </a:p>
        </p:txBody>
      </p:sp>
      <p:sp>
        <p:nvSpPr>
          <p:cNvPr id="167" name="Google Shape;167;p20"/>
          <p:cNvSpPr txBox="1"/>
          <p:nvPr/>
        </p:nvSpPr>
        <p:spPr>
          <a:xfrm>
            <a:off x="8234425" y="1764338"/>
            <a:ext cx="3000000" cy="446400"/>
          </a:xfrm>
          <a:prstGeom prst="rect">
            <a:avLst/>
          </a:prstGeom>
          <a:noFill/>
          <a:ln>
            <a:noFill/>
          </a:ln>
        </p:spPr>
        <p:txBody>
          <a:bodyPr anchorCtr="0" anchor="t" bIns="91425" lIns="91425" spcFirstLastPara="1" rIns="91425" wrap="square" tIns="91425">
            <a:spAutoFit/>
          </a:bodyPr>
          <a:lstStyle/>
          <a:p>
            <a:pPr indent="457200" lvl="0" marL="0" rtl="0" algn="just">
              <a:lnSpc>
                <a:spcPct val="115000"/>
              </a:lnSpc>
              <a:spcBef>
                <a:spcPts val="0"/>
              </a:spcBef>
              <a:spcAft>
                <a:spcPts val="0"/>
              </a:spcAft>
              <a:buNone/>
            </a:pPr>
            <a:r>
              <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1"/>
          <p:cNvPicPr preferRelativeResize="0"/>
          <p:nvPr/>
        </p:nvPicPr>
        <p:blipFill>
          <a:blip r:embed="rId3">
            <a:alphaModFix/>
          </a:blip>
          <a:stretch>
            <a:fillRect/>
          </a:stretch>
        </p:blipFill>
        <p:spPr>
          <a:xfrm>
            <a:off x="164975" y="742100"/>
            <a:ext cx="9980350" cy="4890700"/>
          </a:xfrm>
          <a:prstGeom prst="rect">
            <a:avLst/>
          </a:prstGeom>
          <a:noFill/>
          <a:ln>
            <a:noFill/>
          </a:ln>
        </p:spPr>
      </p:pic>
      <p:sp>
        <p:nvSpPr>
          <p:cNvPr id="174" name="Google Shape;174;p21"/>
          <p:cNvSpPr txBox="1"/>
          <p:nvPr/>
        </p:nvSpPr>
        <p:spPr>
          <a:xfrm>
            <a:off x="164975" y="172700"/>
            <a:ext cx="6007200" cy="56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sz="2500">
                <a:solidFill>
                  <a:schemeClr val="dk1"/>
                </a:solidFill>
              </a:rPr>
              <a:t>Results: </a:t>
            </a:r>
            <a:r>
              <a:rPr lang="en-US" sz="1100">
                <a:solidFill>
                  <a:schemeClr val="dk1"/>
                </a:solidFill>
              </a:rPr>
              <a:t> </a:t>
            </a:r>
            <a:r>
              <a:rPr b="1" lang="en-US" sz="2500">
                <a:solidFill>
                  <a:schemeClr val="dk1"/>
                </a:solidFill>
              </a:rPr>
              <a:t>GLM. Group analysis</a:t>
            </a:r>
            <a:endParaRPr/>
          </a:p>
        </p:txBody>
      </p:sp>
      <p:sp>
        <p:nvSpPr>
          <p:cNvPr id="175" name="Google Shape;175;p21"/>
          <p:cNvSpPr txBox="1"/>
          <p:nvPr/>
        </p:nvSpPr>
        <p:spPr>
          <a:xfrm>
            <a:off x="378900" y="5632800"/>
            <a:ext cx="7201200" cy="415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sz="1500">
                <a:solidFill>
                  <a:schemeClr val="dk1"/>
                </a:solidFill>
              </a:rPr>
              <a:t>Fig 3. Networks with shared regions significant in both task (GLM)</a:t>
            </a:r>
            <a:endParaRPr b="1"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22"/>
          <p:cNvPicPr preferRelativeResize="0"/>
          <p:nvPr/>
        </p:nvPicPr>
        <p:blipFill>
          <a:blip r:embed="rId3">
            <a:alphaModFix/>
          </a:blip>
          <a:stretch>
            <a:fillRect/>
          </a:stretch>
        </p:blipFill>
        <p:spPr>
          <a:xfrm>
            <a:off x="239075" y="920725"/>
            <a:ext cx="10601175" cy="4437700"/>
          </a:xfrm>
          <a:prstGeom prst="rect">
            <a:avLst/>
          </a:prstGeom>
          <a:noFill/>
          <a:ln>
            <a:noFill/>
          </a:ln>
        </p:spPr>
      </p:pic>
      <p:sp>
        <p:nvSpPr>
          <p:cNvPr id="182" name="Google Shape;182;p22"/>
          <p:cNvSpPr txBox="1"/>
          <p:nvPr/>
        </p:nvSpPr>
        <p:spPr>
          <a:xfrm>
            <a:off x="125825" y="108700"/>
            <a:ext cx="6132900" cy="56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sz="2500">
                <a:solidFill>
                  <a:schemeClr val="dk1"/>
                </a:solidFill>
              </a:rPr>
              <a:t>Results: </a:t>
            </a:r>
            <a:r>
              <a:rPr b="1" lang="en-US" sz="2500">
                <a:solidFill>
                  <a:schemeClr val="dk1"/>
                </a:solidFill>
              </a:rPr>
              <a:t>GLM. Group analysis</a:t>
            </a:r>
            <a:endParaRPr/>
          </a:p>
        </p:txBody>
      </p:sp>
      <p:sp>
        <p:nvSpPr>
          <p:cNvPr id="183" name="Google Shape;183;p22"/>
          <p:cNvSpPr txBox="1"/>
          <p:nvPr/>
        </p:nvSpPr>
        <p:spPr>
          <a:xfrm>
            <a:off x="353725" y="5601050"/>
            <a:ext cx="63204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a:solidFill>
                  <a:schemeClr val="dk1"/>
                </a:solidFill>
              </a:rPr>
              <a:t>Fig.4 Distribution of t values for networks with significant regions (GLM)</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3"/>
          <p:cNvPicPr preferRelativeResize="0"/>
          <p:nvPr/>
        </p:nvPicPr>
        <p:blipFill>
          <a:blip r:embed="rId3">
            <a:alphaModFix/>
          </a:blip>
          <a:stretch>
            <a:fillRect/>
          </a:stretch>
        </p:blipFill>
        <p:spPr>
          <a:xfrm>
            <a:off x="3436050" y="696000"/>
            <a:ext cx="5734050" cy="5667375"/>
          </a:xfrm>
          <a:prstGeom prst="rect">
            <a:avLst/>
          </a:prstGeom>
          <a:noFill/>
          <a:ln>
            <a:noFill/>
          </a:ln>
        </p:spPr>
      </p:pic>
      <p:sp>
        <p:nvSpPr>
          <p:cNvPr id="190" name="Google Shape;190;p23"/>
          <p:cNvSpPr txBox="1"/>
          <p:nvPr/>
        </p:nvSpPr>
        <p:spPr>
          <a:xfrm>
            <a:off x="125825" y="108700"/>
            <a:ext cx="10551900" cy="56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sz="2500">
                <a:solidFill>
                  <a:schemeClr val="dk1"/>
                </a:solidFill>
              </a:rPr>
              <a:t>Possible Anti correlation between the Tasks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1B3A"/>
        </a:solidFill>
      </p:bgPr>
    </p:bg>
    <p:spTree>
      <p:nvGrpSpPr>
        <p:cNvPr id="195" name="Shape 195"/>
        <p:cNvGrpSpPr/>
        <p:nvPr/>
      </p:nvGrpSpPr>
      <p:grpSpPr>
        <a:xfrm>
          <a:off x="0" y="0"/>
          <a:ext cx="0" cy="0"/>
          <a:chOff x="0" y="0"/>
          <a:chExt cx="0" cy="0"/>
        </a:xfrm>
      </p:grpSpPr>
      <p:sp>
        <p:nvSpPr>
          <p:cNvPr id="196" name="Google Shape;196;p24"/>
          <p:cNvSpPr/>
          <p:nvPr/>
        </p:nvSpPr>
        <p:spPr>
          <a:xfrm>
            <a:off x="548640" y="457200"/>
            <a:ext cx="10789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What This Means — And What's Next</a:t>
            </a:r>
            <a:endParaRPr b="0" i="0" sz="3000" u="none" cap="none" strike="noStrike">
              <a:solidFill>
                <a:schemeClr val="dk1"/>
              </a:solidFill>
              <a:latin typeface="Calibri"/>
              <a:ea typeface="Calibri"/>
              <a:cs typeface="Calibri"/>
              <a:sym typeface="Calibri"/>
            </a:endParaRPr>
          </a:p>
        </p:txBody>
      </p:sp>
      <p:sp>
        <p:nvSpPr>
          <p:cNvPr id="197" name="Google Shape;197;p24"/>
          <p:cNvSpPr/>
          <p:nvPr/>
        </p:nvSpPr>
        <p:spPr>
          <a:xfrm>
            <a:off x="594360" y="1554480"/>
            <a:ext cx="292608" cy="292608"/>
          </a:xfrm>
          <a:prstGeom prst="ellipse">
            <a:avLst/>
          </a:prstGeom>
          <a:solidFill>
            <a:srgbClr val="F2A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4"/>
          <p:cNvSpPr/>
          <p:nvPr/>
        </p:nvSpPr>
        <p:spPr>
          <a:xfrm>
            <a:off x="594360" y="15544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3A"/>
              </a:buClr>
              <a:buSzPts val="1400"/>
              <a:buFont typeface="Calibri"/>
              <a:buNone/>
            </a:pPr>
            <a:r>
              <a:rPr b="1" i="0" lang="en-US" sz="1400" u="none" cap="none" strike="noStrike">
                <a:solidFill>
                  <a:srgbClr val="1F1B3A"/>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9" name="Google Shape;199;p24"/>
          <p:cNvSpPr/>
          <p:nvPr/>
        </p:nvSpPr>
        <p:spPr>
          <a:xfrm>
            <a:off x="1051560" y="1508760"/>
            <a:ext cx="5532120" cy="10515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9E8"/>
              </a:buClr>
              <a:buSzPts val="1300"/>
              <a:buFont typeface="Calibri"/>
              <a:buNone/>
            </a:pPr>
            <a:r>
              <a:rPr b="0" i="0" lang="en-US" sz="1300" u="none" cap="none" strike="noStrike">
                <a:solidFill>
                  <a:srgbClr val="CFC9E8"/>
                </a:solidFill>
                <a:latin typeface="Calibri"/>
                <a:ea typeface="Calibri"/>
                <a:cs typeface="Calibri"/>
                <a:sym typeface="Calibri"/>
              </a:rPr>
              <a:t>Emotion and working memory share a substantial cortical footprint </a:t>
            </a:r>
            <a:r>
              <a:rPr lang="en-US" sz="1300">
                <a:solidFill>
                  <a:srgbClr val="CFC9E8"/>
                </a:solidFill>
                <a:latin typeface="Calibri"/>
                <a:ea typeface="Calibri"/>
                <a:cs typeface="Calibri"/>
                <a:sym typeface="Calibri"/>
              </a:rPr>
              <a:t> </a:t>
            </a:r>
            <a:r>
              <a:rPr b="0" i="0" lang="en-US" sz="1300" u="none" cap="none" strike="noStrike">
                <a:solidFill>
                  <a:srgbClr val="CFC9E8"/>
                </a:solidFill>
                <a:latin typeface="Calibri"/>
                <a:ea typeface="Calibri"/>
                <a:cs typeface="Calibri"/>
                <a:sym typeface="Calibri"/>
              </a:rPr>
              <a:t> 35% of parcels </a:t>
            </a:r>
            <a:r>
              <a:rPr lang="en-US" sz="1300">
                <a:solidFill>
                  <a:srgbClr val="CFC9E8"/>
                </a:solidFill>
                <a:latin typeface="Calibri"/>
                <a:ea typeface="Calibri"/>
                <a:cs typeface="Calibri"/>
                <a:sym typeface="Calibri"/>
              </a:rPr>
              <a:t> </a:t>
            </a:r>
            <a:r>
              <a:rPr b="0" i="0" lang="en-US" sz="1300" u="none" cap="none" strike="noStrike">
                <a:solidFill>
                  <a:srgbClr val="CFC9E8"/>
                </a:solidFill>
                <a:latin typeface="Calibri"/>
                <a:ea typeface="Calibri"/>
                <a:cs typeface="Calibri"/>
                <a:sym typeface="Calibri"/>
              </a:rPr>
              <a:t> concentrated in domain-general control systems rather than scattered randomly.</a:t>
            </a:r>
            <a:endParaRPr b="0" i="0" sz="1300" u="none" cap="none" strike="noStrike">
              <a:solidFill>
                <a:schemeClr val="dk1"/>
              </a:solidFill>
              <a:latin typeface="Calibri"/>
              <a:ea typeface="Calibri"/>
              <a:cs typeface="Calibri"/>
              <a:sym typeface="Calibri"/>
            </a:endParaRPr>
          </a:p>
        </p:txBody>
      </p:sp>
      <p:sp>
        <p:nvSpPr>
          <p:cNvPr id="200" name="Google Shape;200;p24"/>
          <p:cNvSpPr/>
          <p:nvPr/>
        </p:nvSpPr>
        <p:spPr>
          <a:xfrm>
            <a:off x="594360" y="2743200"/>
            <a:ext cx="292608" cy="292608"/>
          </a:xfrm>
          <a:prstGeom prst="ellipse">
            <a:avLst/>
          </a:prstGeom>
          <a:solidFill>
            <a:srgbClr val="F2A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594360" y="274320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3A"/>
              </a:buClr>
              <a:buSzPts val="1400"/>
              <a:buFont typeface="Calibri"/>
              <a:buNone/>
            </a:pPr>
            <a:r>
              <a:rPr b="1" i="0" lang="en-US" sz="1400" u="none" cap="none" strike="noStrike">
                <a:solidFill>
                  <a:srgbClr val="1F1B3A"/>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02" name="Google Shape;202;p24"/>
          <p:cNvSpPr/>
          <p:nvPr/>
        </p:nvSpPr>
        <p:spPr>
          <a:xfrm>
            <a:off x="1051560" y="2697480"/>
            <a:ext cx="5532120" cy="10515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9E8"/>
              </a:buClr>
              <a:buSzPts val="1300"/>
              <a:buFont typeface="Calibri"/>
              <a:buNone/>
            </a:pPr>
            <a:r>
              <a:rPr b="0" i="0" lang="en-US" sz="1300" u="none" cap="none" strike="noStrike">
                <a:solidFill>
                  <a:srgbClr val="CFC9E8"/>
                </a:solidFill>
                <a:latin typeface="Calibri"/>
                <a:ea typeface="Calibri"/>
                <a:cs typeface="Calibri"/>
                <a:sym typeface="Calibri"/>
              </a:rPr>
              <a:t>The findings reinforce the view of shared “executive hub” networks (FPN, DAN) that integrate diverse cognitive demands, not just WM-specific processing.</a:t>
            </a:r>
            <a:endParaRPr b="0" i="0" sz="1300" u="none" cap="none" strike="noStrike">
              <a:solidFill>
                <a:schemeClr val="dk1"/>
              </a:solidFill>
              <a:latin typeface="Calibri"/>
              <a:ea typeface="Calibri"/>
              <a:cs typeface="Calibri"/>
              <a:sym typeface="Calibri"/>
            </a:endParaRPr>
          </a:p>
        </p:txBody>
      </p:sp>
      <p:sp>
        <p:nvSpPr>
          <p:cNvPr id="203" name="Google Shape;203;p24"/>
          <p:cNvSpPr/>
          <p:nvPr/>
        </p:nvSpPr>
        <p:spPr>
          <a:xfrm>
            <a:off x="594360" y="3931920"/>
            <a:ext cx="292608" cy="292608"/>
          </a:xfrm>
          <a:prstGeom prst="ellipse">
            <a:avLst/>
          </a:prstGeom>
          <a:solidFill>
            <a:srgbClr val="F2A6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4"/>
          <p:cNvSpPr/>
          <p:nvPr/>
        </p:nvSpPr>
        <p:spPr>
          <a:xfrm>
            <a:off x="594360" y="39319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1B3A"/>
              </a:buClr>
              <a:buSzPts val="1400"/>
              <a:buFont typeface="Calibri"/>
              <a:buNone/>
            </a:pPr>
            <a:r>
              <a:rPr b="1" i="0" lang="en-US" sz="1400" u="none" cap="none" strike="noStrike">
                <a:solidFill>
                  <a:srgbClr val="1F1B3A"/>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05" name="Google Shape;205;p24"/>
          <p:cNvSpPr/>
          <p:nvPr/>
        </p:nvSpPr>
        <p:spPr>
          <a:xfrm>
            <a:off x="1051560" y="3886200"/>
            <a:ext cx="5532120" cy="10515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C9E8"/>
              </a:buClr>
              <a:buSzPts val="1300"/>
              <a:buFont typeface="Calibri"/>
              <a:buNone/>
            </a:pPr>
            <a:r>
              <a:rPr b="0" i="0" lang="en-US" sz="1300" u="none" cap="none" strike="noStrike">
                <a:solidFill>
                  <a:srgbClr val="CFC9E8"/>
                </a:solidFill>
                <a:latin typeface="Calibri"/>
                <a:ea typeface="Calibri"/>
                <a:cs typeface="Calibri"/>
                <a:sym typeface="Calibri"/>
              </a:rPr>
              <a:t>Novelty: most prior shared-network work uses voxel-based analysis; this uses a parcellated (Glasser 360) approach, and the WM-vs-emotion pairing specifically hasn't been the focus of prior studies.</a:t>
            </a:r>
            <a:endParaRPr b="0" i="0" sz="1300" u="none" cap="none" strike="noStrike">
              <a:solidFill>
                <a:schemeClr val="dk1"/>
              </a:solidFill>
              <a:latin typeface="Calibri"/>
              <a:ea typeface="Calibri"/>
              <a:cs typeface="Calibri"/>
              <a:sym typeface="Calibri"/>
            </a:endParaRPr>
          </a:p>
        </p:txBody>
      </p:sp>
      <p:sp>
        <p:nvSpPr>
          <p:cNvPr id="206" name="Google Shape;206;p24"/>
          <p:cNvSpPr/>
          <p:nvPr/>
        </p:nvSpPr>
        <p:spPr>
          <a:xfrm>
            <a:off x="6903720" y="1508760"/>
            <a:ext cx="4709160" cy="3566160"/>
          </a:xfrm>
          <a:prstGeom prst="roundRect">
            <a:avLst>
              <a:gd fmla="val 3077" name="adj"/>
            </a:avLst>
          </a:prstGeom>
          <a:solidFill>
            <a:srgbClr val="4A42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4"/>
          <p:cNvSpPr/>
          <p:nvPr/>
        </p:nvSpPr>
        <p:spPr>
          <a:xfrm>
            <a:off x="7223760" y="1783080"/>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A65A"/>
              </a:buClr>
              <a:buSzPts val="1300"/>
              <a:buFont typeface="Calibri"/>
              <a:buNone/>
            </a:pPr>
            <a:r>
              <a:rPr b="1" i="0" lang="en-US" sz="1300" u="none" cap="none" strike="noStrike">
                <a:solidFill>
                  <a:srgbClr val="F2A65A"/>
                </a:solidFill>
                <a:latin typeface="Calibri"/>
                <a:ea typeface="Calibri"/>
                <a:cs typeface="Calibri"/>
                <a:sym typeface="Calibri"/>
              </a:rPr>
              <a:t>→  FUTURE WORK</a:t>
            </a:r>
            <a:endParaRPr b="0" i="0" sz="1300" u="none" cap="none" strike="noStrike">
              <a:solidFill>
                <a:schemeClr val="dk1"/>
              </a:solidFill>
              <a:latin typeface="Calibri"/>
              <a:ea typeface="Calibri"/>
              <a:cs typeface="Calibri"/>
              <a:sym typeface="Calibri"/>
            </a:endParaRPr>
          </a:p>
        </p:txBody>
      </p:sp>
      <p:sp>
        <p:nvSpPr>
          <p:cNvPr id="208" name="Google Shape;208;p24"/>
          <p:cNvSpPr/>
          <p:nvPr/>
        </p:nvSpPr>
        <p:spPr>
          <a:xfrm>
            <a:off x="7223760" y="2194560"/>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Network-Based Statistics (NBS)</a:t>
            </a:r>
            <a:endParaRPr b="0" i="0" sz="1800" u="none" cap="none" strike="noStrike">
              <a:solidFill>
                <a:schemeClr val="dk1"/>
              </a:solidFill>
              <a:latin typeface="Calibri"/>
              <a:ea typeface="Calibri"/>
              <a:cs typeface="Calibri"/>
              <a:sym typeface="Calibri"/>
            </a:endParaRPr>
          </a:p>
        </p:txBody>
      </p:sp>
      <p:sp>
        <p:nvSpPr>
          <p:cNvPr id="209" name="Google Shape;209;p24"/>
          <p:cNvSpPr/>
          <p:nvPr/>
        </p:nvSpPr>
        <p:spPr>
          <a:xfrm>
            <a:off x="7223760" y="2834640"/>
            <a:ext cx="4114800" cy="21031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C9E8"/>
              </a:buClr>
              <a:buSzPts val="1300"/>
              <a:buFont typeface="Calibri"/>
              <a:buNone/>
            </a:pPr>
            <a:r>
              <a:rPr b="0" i="0" lang="en-US" sz="1600" u="none" cap="none" strike="noStrike">
                <a:solidFill>
                  <a:srgbClr val="CFC9E8"/>
                </a:solidFill>
                <a:latin typeface="Calibri"/>
                <a:ea typeface="Calibri"/>
                <a:cs typeface="Calibri"/>
                <a:sym typeface="Calibri"/>
              </a:rPr>
              <a:t>Will further characterize the dynamics of these shared and distinct networks at the connectivity level  moving from where activation overlaps to how these regions communicate during task performance.</a:t>
            </a:r>
            <a:endParaRPr b="0" i="0" sz="1600" u="none" cap="none" strike="noStrike">
              <a:solidFill>
                <a:schemeClr val="dk1"/>
              </a:solidFill>
              <a:latin typeface="Calibri"/>
              <a:ea typeface="Calibri"/>
              <a:cs typeface="Calibri"/>
              <a:sym typeface="Calibri"/>
            </a:endParaRPr>
          </a:p>
        </p:txBody>
      </p:sp>
      <p:cxnSp>
        <p:nvCxnSpPr>
          <p:cNvPr id="210" name="Google Shape;210;p24"/>
          <p:cNvCxnSpPr/>
          <p:nvPr/>
        </p:nvCxnSpPr>
        <p:spPr>
          <a:xfrm>
            <a:off x="548640" y="5440680"/>
            <a:ext cx="11064240" cy="0"/>
          </a:xfrm>
          <a:prstGeom prst="straightConnector1">
            <a:avLst/>
          </a:prstGeom>
          <a:noFill/>
          <a:ln cap="flat" cmpd="sng" w="9525">
            <a:solidFill>
              <a:srgbClr val="4A4276">
                <a:alpha val="60000"/>
              </a:srgbClr>
            </a:solidFill>
            <a:prstDash val="solid"/>
            <a:round/>
            <a:headEnd len="sm" w="sm" type="none"/>
            <a:tailEnd len="sm" w="sm" type="none"/>
          </a:ln>
        </p:spPr>
      </p:cxnSp>
      <p:sp>
        <p:nvSpPr>
          <p:cNvPr id="211" name="Google Shape;211;p24"/>
          <p:cNvSpPr/>
          <p:nvPr/>
        </p:nvSpPr>
        <p:spPr>
          <a:xfrm>
            <a:off x="548640" y="557784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97BE"/>
              </a:buClr>
              <a:buSzPts val="1000"/>
              <a:buFont typeface="Calibri"/>
              <a:buNone/>
            </a:pPr>
            <a:r>
              <a:rPr b="0" i="1" lang="en-US" sz="1000" u="none" cap="none" strike="noStrike">
                <a:solidFill>
                  <a:srgbClr val="9C97BE"/>
                </a:solidFill>
                <a:latin typeface="Calibri"/>
                <a:ea typeface="Calibri"/>
                <a:cs typeface="Calibri"/>
                <a:sym typeface="Calibri"/>
              </a:rPr>
              <a:t>Glasser et al., 2016, Nature  ·  Assem et al., 2020, Cerebral Cortex  ·  Human Connectome Project – Young Adult</a:t>
            </a:r>
            <a:endParaRPr b="0" i="0" sz="1000" u="none" cap="none" strike="noStrike">
              <a:solidFill>
                <a:schemeClr val="dk1"/>
              </a:solidFill>
              <a:latin typeface="Calibri"/>
              <a:ea typeface="Calibri"/>
              <a:cs typeface="Calibri"/>
              <a:sym typeface="Calibri"/>
            </a:endParaRPr>
          </a:p>
        </p:txBody>
      </p:sp>
      <p:sp>
        <p:nvSpPr>
          <p:cNvPr id="212" name="Google Shape;212;p24"/>
          <p:cNvSpPr/>
          <p:nvPr/>
        </p:nvSpPr>
        <p:spPr>
          <a:xfrm>
            <a:off x="548640" y="5943600"/>
            <a:ext cx="11064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97BE"/>
              </a:buClr>
              <a:buSzPts val="1000"/>
              <a:buFont typeface="Calibri"/>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415600" y="593367"/>
            <a:ext cx="11360700" cy="7635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Bibliography </a:t>
            </a:r>
            <a:endParaRPr/>
          </a:p>
        </p:txBody>
      </p:sp>
      <p:sp>
        <p:nvSpPr>
          <p:cNvPr id="218" name="Google Shape;218;p25"/>
          <p:cNvSpPr txBox="1"/>
          <p:nvPr>
            <p:ph idx="1" type="body"/>
          </p:nvPr>
        </p:nvSpPr>
        <p:spPr>
          <a:xfrm>
            <a:off x="415600" y="1242500"/>
            <a:ext cx="11360700" cy="4849200"/>
          </a:xfrm>
          <a:prstGeom prst="rect">
            <a:avLst/>
          </a:prstGeom>
        </p:spPr>
        <p:txBody>
          <a:bodyPr anchorCtr="0" anchor="ctr" bIns="121900" lIns="121900" spcFirstLastPara="1" rIns="121900" wrap="square" tIns="121900">
            <a:noAutofit/>
          </a:bodyPr>
          <a:lstStyle/>
          <a:p>
            <a:pPr indent="-406400" lvl="0" marL="609600" rtl="0" algn="l">
              <a:spcBef>
                <a:spcPts val="0"/>
              </a:spcBef>
              <a:spcAft>
                <a:spcPts val="0"/>
              </a:spcAft>
              <a:buClr>
                <a:schemeClr val="dk1"/>
              </a:buClr>
              <a:buSzPts val="1600"/>
              <a:buChar char="●"/>
            </a:pPr>
            <a:r>
              <a:rPr lang="en-US" sz="1600">
                <a:solidFill>
                  <a:schemeClr val="dk1"/>
                </a:solidFill>
              </a:rPr>
              <a:t>Rolls, Edmund T., et al. “The Human Language Effective Connectome.” NeuroImage, vol. 258, June 2022, p. 119352. </a:t>
            </a:r>
            <a:r>
              <a:rPr lang="en-US" sz="1600" u="sng">
                <a:solidFill>
                  <a:schemeClr val="dk1"/>
                </a:solidFill>
                <a:hlinkClick r:id="rId3">
                  <a:extLst>
                    <a:ext uri="{A12FA001-AC4F-418D-AE19-62706E023703}">
                      <ahyp:hlinkClr val="tx"/>
                    </a:ext>
                  </a:extLst>
                </a:hlinkClick>
              </a:rPr>
              <a:t>https://doi.org/10.1016/j.neuroimage.2022.119352</a:t>
            </a:r>
            <a:r>
              <a:rPr lang="en-US" sz="1600">
                <a:solidFill>
                  <a:schemeClr val="dk1"/>
                </a:solidFill>
              </a:rPr>
              <a:t>. </a:t>
            </a:r>
            <a:endParaRPr sz="1600">
              <a:solidFill>
                <a:schemeClr val="dk1"/>
              </a:solidFill>
            </a:endParaRPr>
          </a:p>
          <a:p>
            <a:pPr indent="-406400" lvl="0" marL="609600" rtl="0" algn="l">
              <a:spcBef>
                <a:spcPts val="1000"/>
              </a:spcBef>
              <a:spcAft>
                <a:spcPts val="0"/>
              </a:spcAft>
              <a:buClr>
                <a:schemeClr val="dk1"/>
              </a:buClr>
              <a:buSzPts val="1600"/>
              <a:buChar char="●"/>
            </a:pPr>
            <a:r>
              <a:rPr lang="en-US" sz="1600">
                <a:solidFill>
                  <a:schemeClr val="dk1"/>
                </a:solidFill>
              </a:rPr>
              <a:t>Brosch, Tobias, et al. “The Impact of Emotion on Perception, Attention, Memory, and Decision-making.” </a:t>
            </a:r>
            <a:r>
              <a:rPr i="1" lang="en-US" sz="1600">
                <a:solidFill>
                  <a:schemeClr val="dk1"/>
                </a:solidFill>
              </a:rPr>
              <a:t>Swiss Medical Weekly</a:t>
            </a:r>
            <a:r>
              <a:rPr lang="en-US" sz="1600">
                <a:solidFill>
                  <a:schemeClr val="dk1"/>
                </a:solidFill>
              </a:rPr>
              <a:t>, vol. 143, no. 1920, May 2013, p. w13786. </a:t>
            </a:r>
            <a:r>
              <a:rPr lang="en-US" sz="1600" u="sng">
                <a:solidFill>
                  <a:schemeClr val="dk1"/>
                </a:solidFill>
                <a:hlinkClick r:id="rId4">
                  <a:extLst>
                    <a:ext uri="{A12FA001-AC4F-418D-AE19-62706E023703}">
                      <ahyp:hlinkClr val="tx"/>
                    </a:ext>
                  </a:extLst>
                </a:hlinkClick>
              </a:rPr>
              <a:t>https://doi.org/10.4414/smw.2013.13786</a:t>
            </a:r>
            <a:r>
              <a:rPr lang="en-US" sz="1600">
                <a:solidFill>
                  <a:schemeClr val="dk1"/>
                </a:solidFill>
              </a:rPr>
              <a:t>. </a:t>
            </a:r>
            <a:endParaRPr sz="1600">
              <a:solidFill>
                <a:schemeClr val="dk1"/>
              </a:solidFill>
            </a:endParaRPr>
          </a:p>
          <a:p>
            <a:pPr indent="-406400" lvl="0" marL="609600" rtl="0" algn="just">
              <a:lnSpc>
                <a:spcPct val="115000"/>
              </a:lnSpc>
              <a:spcBef>
                <a:spcPts val="1000"/>
              </a:spcBef>
              <a:spcAft>
                <a:spcPts val="0"/>
              </a:spcAft>
              <a:buClr>
                <a:schemeClr val="dk1"/>
              </a:buClr>
              <a:buSzPts val="1600"/>
              <a:buChar char="●"/>
            </a:pPr>
            <a:r>
              <a:rPr lang="en-US" sz="1600">
                <a:solidFill>
                  <a:schemeClr val="dk1"/>
                </a:solidFill>
              </a:rPr>
              <a:t>Seeburger, Dolly T., et al. “Time-varying Functional Connectivity Predicts Fluctuations in Sustained Attention in a Serial Tapping Task.” </a:t>
            </a:r>
            <a:r>
              <a:rPr i="1" lang="en-US" sz="1600">
                <a:solidFill>
                  <a:schemeClr val="dk1"/>
                </a:solidFill>
              </a:rPr>
              <a:t>Cognitive Affective &amp; Behavioral Neuroscience</a:t>
            </a:r>
            <a:r>
              <a:rPr lang="en-US" sz="1600">
                <a:solidFill>
                  <a:schemeClr val="dk1"/>
                </a:solidFill>
              </a:rPr>
              <a:t>, vol. 24, no. 1, Jan. 2024, pp. 111–25. </a:t>
            </a:r>
            <a:r>
              <a:rPr lang="en-US" sz="1600" u="sng">
                <a:solidFill>
                  <a:schemeClr val="dk1"/>
                </a:solidFill>
                <a:hlinkClick r:id="rId5">
                  <a:extLst>
                    <a:ext uri="{A12FA001-AC4F-418D-AE19-62706E023703}">
                      <ahyp:hlinkClr val="tx"/>
                    </a:ext>
                  </a:extLst>
                </a:hlinkClick>
              </a:rPr>
              <a:t>https://doi.org/10.3758/s13415-024-01156-1</a:t>
            </a:r>
            <a:r>
              <a:rPr lang="en-US" sz="1600">
                <a:solidFill>
                  <a:schemeClr val="dk1"/>
                </a:solidFill>
              </a:rPr>
              <a:t>. </a:t>
            </a:r>
            <a:endParaRPr sz="1600">
              <a:solidFill>
                <a:schemeClr val="dk1"/>
              </a:solidFill>
            </a:endParaRPr>
          </a:p>
          <a:p>
            <a:pPr indent="-406400" lvl="0" marL="609600" rtl="0" algn="l">
              <a:lnSpc>
                <a:spcPct val="115000"/>
              </a:lnSpc>
              <a:spcBef>
                <a:spcPts val="1000"/>
              </a:spcBef>
              <a:spcAft>
                <a:spcPts val="0"/>
              </a:spcAft>
              <a:buClr>
                <a:schemeClr val="dk1"/>
              </a:buClr>
              <a:buSzPts val="1600"/>
              <a:buChar char="●"/>
            </a:pPr>
            <a:r>
              <a:rPr lang="en-US" sz="1600">
                <a:solidFill>
                  <a:schemeClr val="dk1"/>
                </a:solidFill>
              </a:rPr>
              <a:t>Pessoa, Luiz. “Understanding Brain Networks and Brain Organization.” </a:t>
            </a:r>
            <a:r>
              <a:rPr i="1" lang="en-US" sz="1600">
                <a:solidFill>
                  <a:schemeClr val="dk1"/>
                </a:solidFill>
              </a:rPr>
              <a:t>Physics of Life Reviews</a:t>
            </a:r>
            <a:r>
              <a:rPr lang="en-US" sz="1600">
                <a:solidFill>
                  <a:schemeClr val="dk1"/>
                </a:solidFill>
              </a:rPr>
              <a:t>, vol. 11, no. 3, Apr. 2014, pp. 400–35. </a:t>
            </a:r>
            <a:r>
              <a:rPr lang="en-US" sz="1600" u="sng">
                <a:solidFill>
                  <a:schemeClr val="dk1"/>
                </a:solidFill>
                <a:hlinkClick r:id="rId6">
                  <a:extLst>
                    <a:ext uri="{A12FA001-AC4F-418D-AE19-62706E023703}">
                      <ahyp:hlinkClr val="tx"/>
                    </a:ext>
                  </a:extLst>
                </a:hlinkClick>
              </a:rPr>
              <a:t>https://doi.org/10.1016/j.plrev.2014.03.005</a:t>
            </a:r>
            <a:r>
              <a:rPr lang="en-US" sz="1600">
                <a:solidFill>
                  <a:schemeClr val="dk1"/>
                </a:solidFill>
              </a:rPr>
              <a:t>. </a:t>
            </a:r>
            <a:endParaRPr sz="1600">
              <a:solidFill>
                <a:schemeClr val="dk1"/>
              </a:solidFill>
              <a:highlight>
                <a:srgbClr val="FFFFFF"/>
              </a:highlight>
            </a:endParaRPr>
          </a:p>
          <a:p>
            <a:pPr indent="-406400" lvl="0" marL="609600" rtl="0" algn="just">
              <a:lnSpc>
                <a:spcPct val="115000"/>
              </a:lnSpc>
              <a:spcBef>
                <a:spcPts val="1000"/>
              </a:spcBef>
              <a:spcAft>
                <a:spcPts val="0"/>
              </a:spcAft>
              <a:buClr>
                <a:schemeClr val="dk1"/>
              </a:buClr>
              <a:buSzPts val="1600"/>
              <a:buChar char="●"/>
            </a:pPr>
            <a:r>
              <a:rPr lang="en-US" sz="1600">
                <a:solidFill>
                  <a:schemeClr val="dk1"/>
                </a:solidFill>
                <a:highlight>
                  <a:srgbClr val="FFFFFF"/>
                </a:highlight>
              </a:rPr>
              <a:t>Glasser, Matthew F., et al. “A Multi-modal Parcellation of Human Cerebral Cortex.” </a:t>
            </a:r>
            <a:r>
              <a:rPr i="1" lang="en-US" sz="1600">
                <a:solidFill>
                  <a:schemeClr val="dk1"/>
                </a:solidFill>
                <a:highlight>
                  <a:srgbClr val="FFFFFF"/>
                </a:highlight>
              </a:rPr>
              <a:t>Nature</a:t>
            </a:r>
            <a:r>
              <a:rPr lang="en-US" sz="1600">
                <a:solidFill>
                  <a:schemeClr val="dk1"/>
                </a:solidFill>
                <a:highlight>
                  <a:srgbClr val="FFFFFF"/>
                </a:highlight>
              </a:rPr>
              <a:t>, vol. 536, no. 7615, July 2016, pp. 171–78. </a:t>
            </a:r>
            <a:r>
              <a:rPr lang="en-US" sz="1600" u="sng">
                <a:solidFill>
                  <a:schemeClr val="dk1"/>
                </a:solidFill>
                <a:highlight>
                  <a:srgbClr val="FFFFFF"/>
                </a:highlight>
                <a:hlinkClick r:id="rId7">
                  <a:extLst>
                    <a:ext uri="{A12FA001-AC4F-418D-AE19-62706E023703}">
                      <ahyp:hlinkClr val="tx"/>
                    </a:ext>
                  </a:extLst>
                </a:hlinkClick>
              </a:rPr>
              <a:t>https://doi.org/10.1038/nature18933</a:t>
            </a:r>
            <a:r>
              <a:rPr lang="en-US" sz="1600">
                <a:solidFill>
                  <a:schemeClr val="dk1"/>
                </a:solidFill>
                <a:highlight>
                  <a:srgbClr val="FFFFFF"/>
                </a:highlight>
              </a:rPr>
              <a:t>.</a:t>
            </a:r>
            <a:endParaRPr sz="1600">
              <a:solidFill>
                <a:schemeClr val="dk1"/>
              </a:solidFill>
              <a:highlight>
                <a:srgbClr val="FFFFFF"/>
              </a:highlight>
            </a:endParaRPr>
          </a:p>
          <a:p>
            <a:pPr indent="-406400" lvl="0" marL="609600" rtl="0" algn="just">
              <a:lnSpc>
                <a:spcPct val="115000"/>
              </a:lnSpc>
              <a:spcBef>
                <a:spcPts val="1200"/>
              </a:spcBef>
              <a:spcAft>
                <a:spcPts val="1000"/>
              </a:spcAft>
              <a:buClr>
                <a:schemeClr val="dk1"/>
              </a:buClr>
              <a:buSzPts val="1600"/>
              <a:buChar char="●"/>
            </a:pPr>
            <a:r>
              <a:rPr lang="en-US" sz="1600">
                <a:solidFill>
                  <a:schemeClr val="dk1"/>
                </a:solidFill>
              </a:rPr>
              <a:t>Assem, Moataz, et al. “A Domain-General Cognitive Core Defined in Multimodally Parcellated Human Cortex.” Cerebral Cortex, vol. 30, no. 8, Jan. 2020, pp. 4361–80. </a:t>
            </a:r>
            <a:r>
              <a:rPr lang="en-US" sz="1600" u="sng">
                <a:solidFill>
                  <a:schemeClr val="dk1"/>
                </a:solidFill>
                <a:hlinkClick r:id="rId8">
                  <a:extLst>
                    <a:ext uri="{A12FA001-AC4F-418D-AE19-62706E023703}">
                      <ahyp:hlinkClr val="tx"/>
                    </a:ext>
                  </a:extLst>
                </a:hlinkClick>
              </a:rPr>
              <a:t>https://doi.org/10.1093/cercor/bhaa023</a:t>
            </a:r>
            <a:r>
              <a:rPr lang="en-US" sz="1600">
                <a:solidFill>
                  <a:schemeClr val="dk1"/>
                </a:solidFill>
              </a:rPr>
              <a:t>.  </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